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2" r:id="rId10"/>
    <p:sldId id="263" r:id="rId11"/>
    <p:sldId id="265" r:id="rId12"/>
    <p:sldId id="267" r:id="rId13"/>
    <p:sldId id="270" r:id="rId14"/>
    <p:sldId id="271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9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计科04班的林嘉宇，我的毕业设计题目是“基于微信小程序的校园活动报名系统设计与实现”。接下来，我将从研究背景、系统设计、核心功能实现以及系统测试与结论四个方面，对我的毕业设计进行详细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答辩将围绕四个核心部分展开。首先，我将介绍本研究的背景，分析当前校园活动管理中存在的痛点问题。其次，我会阐述系统的整体设计思路和所采用的核心技术栈。接着，将详细展示系统的核心功能模块是如何实现的。最后，通过系统测试结果来验证系统的有效性，并对整个研究工作进行总结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首先，我们进入第一部分：研究背景与问题。在这一部分，我将阐述为什么要做这个系统，以及它所要解决的实际问题。</a:t>
            </a:r>
            <a:endParaRPr lang="en-US" sz="1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校园活动是第二课堂的重要组成部分，但传统的管理方式存在诸多痛点。首先，通知渠道分散，学生容易错过活动信息。其次，报名数据分散在不同表格中，人工汇总统计耗时易错。最后，现场签到依赖人工，效率低下且容易出错。针对这些问题，本研究的目标就是开发一个基于微信小程序的系统，实现活动管理的全流程线上化，提升效率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接下来，我们进入第二部分，我将介绍本系统的设计思路，包括总体架构和所选用的核心技术栈。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为了实现系统功能，我们选用了一系列成熟的技术。前端采用UniApp和Vue 3，实现了跨平台小程序的高效开发。后端核心框架是Spring Boot，它简化了项目搭建和开发过程。数据库选用MySQL 8.0，保证了数据存储的稳定和高效。此外，我们还引入了ZXing库来处理二维码，实现了便捷的扫码签到功能。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现在我们进入第三部分，也是本次设计的核心内容：系统的核心功能实现。我将分模块介绍用户与社团管理、活动全流程管理以及扫码签到功能。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活动全流程管理是系统的核心。首先，社团管理员可以方便地发布新活动。其次，我们建立了审核机制，所有活动必须经过超级管理员审核才能上线，确保活动质量。最后，在报名环节，系统支持设置人数上限、报名审核等功能，并能动态释放因用户取消报名而空出的名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系统开发完成后，我们进行了全面的测试。在第四部分，我将展示系统的功能测试和性能测试结果，并总结本研究的创新点。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总结本次毕业设计，主要有四点创新。第一，我们实现了活动管理的全流程在线化，形成了业务闭环。第二，通过动态二维码技术，实现了便捷且安全的扫码签到。第三，我们设计了三级权限管理体系，保障了系统的安全性和规范性。最后，基于UniApp的跨平台特性，系统具备良好的扩展性，可轻松部署到多个平台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我的汇报到此结束。感谢各位评委老师的聆听，恳请各位老师批评指正。谢谢大家！</a:t>
            </a:r>
            <a:endParaRPr lang="en-US" sz="1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1" Type="http://schemas.openxmlformats.org/officeDocument/2006/relationships/notesSlide" Target="../notesSlides/notesSlide10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26.xml"/><Relationship Id="rId29" Type="http://schemas.openxmlformats.org/officeDocument/2006/relationships/tags" Target="../tags/tag52.xml"/><Relationship Id="rId28" Type="http://schemas.openxmlformats.org/officeDocument/2006/relationships/tags" Target="../tags/tag51.xml"/><Relationship Id="rId27" Type="http://schemas.openxmlformats.org/officeDocument/2006/relationships/tags" Target="../tags/tag50.xml"/><Relationship Id="rId26" Type="http://schemas.openxmlformats.org/officeDocument/2006/relationships/tags" Target="../tags/tag49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77800" y="1892300"/>
            <a:ext cx="118237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400" b="1" i="0" u="none" strike="noStrike">
                <a:solidFill>
                  <a:srgbClr val="3B5F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毕业论文答辩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3238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GRADUATION THESIS DEFENSE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基于微信小程序的校园活动报名系统设计与实现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55245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：林嘉宇</a:t>
            </a:r>
            <a:endParaRPr lang="en-US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239000" y="55245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指导老师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：覃静洁</a:t>
            </a:r>
            <a:endParaRPr lang="zh-CN" altLang="en-US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661057" y="4793631"/>
            <a:ext cx="5250889" cy="382068"/>
            <a:chOff x="3548596" y="4873761"/>
            <a:chExt cx="5250889" cy="382068"/>
          </a:xfrm>
        </p:grpSpPr>
        <p:sp>
          <p:nvSpPr>
            <p:cNvPr id="11" name="PA_任意多边形 30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  <p:cNvSpPr/>
            <p:nvPr>
              <p:custDataLst>
                <p:tags r:id="rId1"/>
              </p:custDataLst>
            </p:nvPr>
          </p:nvSpPr>
          <p:spPr>
            <a:xfrm>
              <a:off x="3548596" y="5059717"/>
              <a:ext cx="1129553" cy="0"/>
            </a:xfrm>
            <a:custGeom>
              <a:avLst/>
              <a:gdLst>
                <a:gd name="connsiteX0" fmla="*/ 1129553 w 1129553"/>
                <a:gd name="connsiteY0" fmla="*/ 0 h 0"/>
                <a:gd name="connsiteX1" fmla="*/ 0 w 112955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9553">
                  <a:moveTo>
                    <a:pt x="1129553" y="0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325B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40220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2" name="PA_任意多边形 31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  <p:cNvSpPr/>
            <p:nvPr>
              <p:custDataLst>
                <p:tags r:id="rId2"/>
              </p:custDataLst>
            </p:nvPr>
          </p:nvSpPr>
          <p:spPr>
            <a:xfrm>
              <a:off x="7669932" y="5059717"/>
              <a:ext cx="1129553" cy="0"/>
            </a:xfrm>
            <a:custGeom>
              <a:avLst/>
              <a:gdLst>
                <a:gd name="connsiteX0" fmla="*/ 1129553 w 1129553"/>
                <a:gd name="connsiteY0" fmla="*/ 0 h 0"/>
                <a:gd name="connsiteX1" fmla="*/ 0 w 112955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9553">
                  <a:moveTo>
                    <a:pt x="1129553" y="0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325B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40220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4" name="矩形: 圆角 11"/>
            <p:cNvSpPr/>
            <p:nvPr/>
          </p:nvSpPr>
          <p:spPr>
            <a:xfrm>
              <a:off x="4314713" y="4873761"/>
              <a:ext cx="3401042" cy="382068"/>
            </a:xfrm>
            <a:prstGeom prst="roundRect">
              <a:avLst>
                <a:gd name="adj" fmla="val 32163"/>
              </a:avLst>
            </a:prstGeom>
            <a:solidFill>
              <a:srgbClr val="335C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思源黑体" panose="020B0500000000000000" pitchFamily="34" charset="-122"/>
                </a:rPr>
                <a:t>应用技术学院 </a:t>
              </a:r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57200" y="342900"/>
            <a:ext cx="469900" cy="469900"/>
          </a:xfrm>
          <a:prstGeom prst="ellipse">
            <a:avLst/>
          </a:prstGeom>
          <a:solidFill>
            <a:srgbClr val="255580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05438" y="482547"/>
            <a:ext cx="343512" cy="220588"/>
          </a:xfrm>
          <a:custGeom>
            <a:avLst/>
            <a:gdLst/>
            <a:ahLst/>
            <a:cxnLst/>
            <a:rect l="l" t="t" r="r" b="b"/>
            <a:pathLst>
              <a:path w="343512" h="220588">
                <a:moveTo>
                  <a:pt x="61509" y="119687"/>
                </a:moveTo>
                <a:lnTo>
                  <a:pt x="90619" y="119687"/>
                </a:lnTo>
                <a:lnTo>
                  <a:pt x="150080" y="142971"/>
                </a:lnTo>
                <a:cubicBezTo>
                  <a:pt x="157535" y="145859"/>
                  <a:pt x="165611" y="146490"/>
                  <a:pt x="171114" y="146490"/>
                </a:cubicBezTo>
                <a:cubicBezTo>
                  <a:pt x="179811" y="146490"/>
                  <a:pt x="188065" y="145048"/>
                  <a:pt x="194365" y="142250"/>
                </a:cubicBezTo>
                <a:lnTo>
                  <a:pt x="247083" y="119687"/>
                </a:lnTo>
                <a:lnTo>
                  <a:pt x="279298" y="119687"/>
                </a:lnTo>
                <a:lnTo>
                  <a:pt x="279298" y="155967"/>
                </a:lnTo>
                <a:cubicBezTo>
                  <a:pt x="279298" y="167158"/>
                  <a:pt x="271134" y="179794"/>
                  <a:pt x="261016" y="184216"/>
                </a:cubicBezTo>
                <a:lnTo>
                  <a:pt x="188242" y="216165"/>
                </a:lnTo>
                <a:cubicBezTo>
                  <a:pt x="178124" y="220587"/>
                  <a:pt x="161795" y="220587"/>
                  <a:pt x="151767" y="216165"/>
                </a:cubicBezTo>
                <a:lnTo>
                  <a:pt x="79703" y="184216"/>
                </a:lnTo>
                <a:cubicBezTo>
                  <a:pt x="69674" y="179794"/>
                  <a:pt x="61509" y="167158"/>
                  <a:pt x="61509" y="155967"/>
                </a:cubicBezTo>
                <a:close/>
                <a:moveTo>
                  <a:pt x="172256" y="56"/>
                </a:moveTo>
                <a:cubicBezTo>
                  <a:pt x="179011" y="0"/>
                  <a:pt x="185777" y="903"/>
                  <a:pt x="190969" y="2753"/>
                </a:cubicBezTo>
                <a:lnTo>
                  <a:pt x="330291" y="53201"/>
                </a:lnTo>
                <a:cubicBezTo>
                  <a:pt x="339076" y="56360"/>
                  <a:pt x="340407" y="61595"/>
                  <a:pt x="334550" y="65746"/>
                </a:cubicBezTo>
                <a:lnTo>
                  <a:pt x="334728" y="65746"/>
                </a:lnTo>
                <a:lnTo>
                  <a:pt x="334728" y="155543"/>
                </a:lnTo>
                <a:lnTo>
                  <a:pt x="343513" y="184603"/>
                </a:lnTo>
                <a:lnTo>
                  <a:pt x="319021" y="184603"/>
                </a:lnTo>
                <a:lnTo>
                  <a:pt x="327540" y="155813"/>
                </a:lnTo>
                <a:lnTo>
                  <a:pt x="327540" y="69175"/>
                </a:lnTo>
                <a:lnTo>
                  <a:pt x="190526" y="127927"/>
                </a:lnTo>
                <a:cubicBezTo>
                  <a:pt x="180409" y="132259"/>
                  <a:pt x="163903" y="132529"/>
                  <a:pt x="153698" y="128559"/>
                </a:cubicBezTo>
                <a:lnTo>
                  <a:pt x="10205" y="72334"/>
                </a:lnTo>
                <a:cubicBezTo>
                  <a:pt x="0" y="68272"/>
                  <a:pt x="0" y="61865"/>
                  <a:pt x="10294" y="57984"/>
                </a:cubicBezTo>
                <a:lnTo>
                  <a:pt x="153609" y="3114"/>
                </a:lnTo>
                <a:cubicBezTo>
                  <a:pt x="158757" y="1127"/>
                  <a:pt x="165500" y="113"/>
                  <a:pt x="172256" y="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937000" y="698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335C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0" y="825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335C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CONTENTS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1"/>
            </p:custDataLst>
          </p:nvPr>
        </p:nvSpPr>
        <p:spPr>
          <a:xfrm>
            <a:off x="749300" y="4381500"/>
            <a:ext cx="10947400" cy="101600"/>
          </a:xfrm>
          <a:prstGeom prst="roundRect">
            <a:avLst>
              <a:gd name="adj" fmla="val 0"/>
            </a:avLst>
          </a:prstGeom>
          <a:solidFill>
            <a:srgbClr val="335C80">
              <a:alpha val="100000"/>
            </a:srgbClr>
          </a:solidFill>
          <a:ln w="12700" cap="flat" cmpd="sng">
            <a:solidFill>
              <a:srgbClr val="335C8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0" name="Connector 10"/>
          <p:cNvCxnSpPr/>
          <p:nvPr>
            <p:custDataLst>
              <p:tags r:id="rId2"/>
            </p:custDataLst>
          </p:nvPr>
        </p:nvCxnSpPr>
        <p:spPr>
          <a:xfrm rot="5400000">
            <a:off x="1028676" y="3479824"/>
            <a:ext cx="166374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35C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1676400" y="4229100"/>
            <a:ext cx="342900" cy="342900"/>
          </a:xfrm>
          <a:prstGeom prst="ellipse">
            <a:avLst/>
          </a:prstGeom>
          <a:solidFill>
            <a:srgbClr val="335C80">
              <a:alpha val="100000"/>
            </a:srgbClr>
          </a:solidFill>
          <a:ln w="38100" cap="flat" cmpd="sng">
            <a:solidFill>
              <a:srgbClr val="335C8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2" name="Connector 12"/>
          <p:cNvCxnSpPr/>
          <p:nvPr>
            <p:custDataLst>
              <p:tags r:id="rId4"/>
            </p:custDataLst>
          </p:nvPr>
        </p:nvCxnSpPr>
        <p:spPr>
          <a:xfrm rot="5400002">
            <a:off x="3473414" y="3867186"/>
            <a:ext cx="111767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F7F7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3860800" y="4229100"/>
            <a:ext cx="342900" cy="342900"/>
          </a:xfrm>
          <a:prstGeom prst="ellipse">
            <a:avLst/>
          </a:prstGeom>
          <a:solidFill>
            <a:srgbClr val="7F7F7F">
              <a:alpha val="100000"/>
            </a:srgbClr>
          </a:solidFill>
          <a:ln w="38100" cap="flat" cmpd="sng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4" name="Connector 14"/>
          <p:cNvCxnSpPr/>
          <p:nvPr>
            <p:custDataLst>
              <p:tags r:id="rId6"/>
            </p:custDataLst>
          </p:nvPr>
        </p:nvCxnSpPr>
        <p:spPr>
          <a:xfrm rot="5400002">
            <a:off x="7842214" y="3867186"/>
            <a:ext cx="111767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F7F7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8242300" y="4229100"/>
            <a:ext cx="342900" cy="342900"/>
          </a:xfrm>
          <a:prstGeom prst="ellipse">
            <a:avLst/>
          </a:prstGeom>
          <a:solidFill>
            <a:srgbClr val="7F7F7F">
              <a:alpha val="100000"/>
            </a:srgbClr>
          </a:solidFill>
          <a:ln w="38100" cap="flat" cmpd="sng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6" name="Connector 16"/>
          <p:cNvCxnSpPr/>
          <p:nvPr>
            <p:custDataLst>
              <p:tags r:id="rId8"/>
            </p:custDataLst>
          </p:nvPr>
        </p:nvCxnSpPr>
        <p:spPr>
          <a:xfrm rot="5426241">
            <a:off x="5403753" y="3454424"/>
            <a:ext cx="166389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35C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6045200" y="4229100"/>
            <a:ext cx="342900" cy="342900"/>
          </a:xfrm>
          <a:prstGeom prst="ellipse">
            <a:avLst/>
          </a:prstGeom>
          <a:solidFill>
            <a:srgbClr val="335C80">
              <a:alpha val="100000"/>
            </a:srgbClr>
          </a:solidFill>
          <a:ln w="38100" cap="flat" cmpd="sng">
            <a:solidFill>
              <a:srgbClr val="335C8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0"/>
            </p:custDataLst>
          </p:nvPr>
        </p:nvSpPr>
        <p:spPr>
          <a:xfrm>
            <a:off x="863600" y="2235200"/>
            <a:ext cx="1968500" cy="609600"/>
          </a:xfrm>
          <a:prstGeom prst="chevron">
            <a:avLst>
              <a:gd name="adj" fmla="val 50000"/>
            </a:avLst>
          </a:prstGeom>
          <a:solidFill>
            <a:srgbClr val="335C80">
              <a:alpha val="100000"/>
            </a:srgbClr>
          </a:solidFill>
          <a:ln w="12700" cap="flat" cmpd="sng">
            <a:solidFill>
              <a:srgbClr val="335C8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1"/>
            </p:custDataLst>
          </p:nvPr>
        </p:nvSpPr>
        <p:spPr>
          <a:xfrm>
            <a:off x="1282700" y="2349500"/>
            <a:ext cx="1104900" cy="406400"/>
          </a:xfrm>
          <a:prstGeom prst="roundRect">
            <a:avLst>
              <a:gd name="adj" fmla="val 0"/>
            </a:avLst>
          </a:prstGeom>
          <a:solidFill>
            <a:srgbClr val="335C80">
              <a:alpha val="100000"/>
            </a:srgbClr>
          </a:solidFill>
          <a:ln w="12700" cap="flat" cmpd="sng">
            <a:solidFill>
              <a:srgbClr val="335C8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25400" rIns="50800" bIns="2540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01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2"/>
            </p:custDataLst>
          </p:nvPr>
        </p:nvSpPr>
        <p:spPr>
          <a:xfrm>
            <a:off x="863600" y="4953000"/>
            <a:ext cx="177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335C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研究背景与问题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13"/>
            </p:custDataLst>
          </p:nvPr>
        </p:nvSpPr>
        <p:spPr>
          <a:xfrm>
            <a:off x="3200400" y="4953000"/>
            <a:ext cx="1549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系统设计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14"/>
            </p:custDataLst>
          </p:nvPr>
        </p:nvSpPr>
        <p:spPr>
          <a:xfrm>
            <a:off x="5435600" y="4953000"/>
            <a:ext cx="1549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335C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</a:t>
            </a:r>
            <a:r>
              <a:rPr lang="zh-CN" altLang="en-US" sz="1600" b="1" i="0" u="none" strike="noStrike">
                <a:solidFill>
                  <a:srgbClr val="335C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流程</a:t>
            </a:r>
            <a:endParaRPr lang="zh-CN" altLang="en-US" sz="1600" b="1" i="0" u="none" strike="noStrike">
              <a:solidFill>
                <a:srgbClr val="335C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15"/>
            </p:custDataLst>
          </p:nvPr>
        </p:nvSpPr>
        <p:spPr>
          <a:xfrm>
            <a:off x="7645400" y="4953000"/>
            <a:ext cx="1549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15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系统结论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842500" y="4927600"/>
            <a:ext cx="15494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16"/>
            </p:custDataLst>
          </p:nvPr>
        </p:nvSpPr>
        <p:spPr>
          <a:xfrm>
            <a:off x="5257800" y="2235200"/>
            <a:ext cx="1968500" cy="609600"/>
          </a:xfrm>
          <a:prstGeom prst="chevron">
            <a:avLst>
              <a:gd name="adj" fmla="val 50000"/>
            </a:avLst>
          </a:prstGeom>
          <a:solidFill>
            <a:srgbClr val="335C80">
              <a:alpha val="100000"/>
            </a:srgbClr>
          </a:solidFill>
          <a:ln w="12700" cap="flat" cmpd="sng">
            <a:solidFill>
              <a:srgbClr val="335C8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>
            <p:custDataLst>
              <p:tags r:id="rId17"/>
            </p:custDataLst>
          </p:nvPr>
        </p:nvSpPr>
        <p:spPr>
          <a:xfrm>
            <a:off x="5676900" y="2349500"/>
            <a:ext cx="1104900" cy="406400"/>
          </a:xfrm>
          <a:prstGeom prst="roundRect">
            <a:avLst>
              <a:gd name="adj" fmla="val 0"/>
            </a:avLst>
          </a:prstGeom>
          <a:solidFill>
            <a:srgbClr val="335C80">
              <a:alpha val="100000"/>
            </a:srgbClr>
          </a:solidFill>
          <a:ln w="12700" cap="flat" cmpd="sng">
            <a:solidFill>
              <a:srgbClr val="335C8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25400" rIns="50800" bIns="2540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03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18"/>
            </p:custDataLst>
          </p:nvPr>
        </p:nvSpPr>
        <p:spPr>
          <a:xfrm>
            <a:off x="3048000" y="2743200"/>
            <a:ext cx="1968500" cy="609600"/>
          </a:xfrm>
          <a:prstGeom prst="chevron">
            <a:avLst>
              <a:gd name="adj" fmla="val 50000"/>
            </a:avLst>
          </a:prstGeom>
          <a:solidFill>
            <a:srgbClr val="7F7F7F">
              <a:alpha val="100000"/>
            </a:srgbClr>
          </a:solidFill>
          <a:ln w="12700" cap="flat" cmpd="sng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>
            <p:custDataLst>
              <p:tags r:id="rId19"/>
            </p:custDataLst>
          </p:nvPr>
        </p:nvSpPr>
        <p:spPr>
          <a:xfrm>
            <a:off x="3467100" y="2857500"/>
            <a:ext cx="11049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12700" cap="flat" cmpd="sng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25400" rIns="50800" bIns="2540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02</a:t>
            </a: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20"/>
            </p:custDataLst>
          </p:nvPr>
        </p:nvSpPr>
        <p:spPr>
          <a:xfrm>
            <a:off x="7442200" y="2743200"/>
            <a:ext cx="1968500" cy="609600"/>
          </a:xfrm>
          <a:prstGeom prst="chevron">
            <a:avLst>
              <a:gd name="adj" fmla="val 50000"/>
            </a:avLst>
          </a:prstGeom>
          <a:solidFill>
            <a:srgbClr val="7F7F7F">
              <a:alpha val="100000"/>
            </a:srgbClr>
          </a:solidFill>
          <a:ln w="12700" cap="flat" cmpd="sng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>
            <p:custDataLst>
              <p:tags r:id="rId21"/>
            </p:custDataLst>
          </p:nvPr>
        </p:nvSpPr>
        <p:spPr>
          <a:xfrm>
            <a:off x="7848600" y="2857500"/>
            <a:ext cx="1104900" cy="4064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12700" cap="flat" cmpd="sng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25400" rIns="50800" bIns="2540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04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57200" y="342900"/>
            <a:ext cx="469900" cy="469900"/>
          </a:xfrm>
          <a:prstGeom prst="ellipse">
            <a:avLst/>
          </a:prstGeom>
          <a:solidFill>
            <a:srgbClr val="255580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05438" y="482547"/>
            <a:ext cx="343512" cy="220588"/>
          </a:xfrm>
          <a:custGeom>
            <a:avLst/>
            <a:gdLst/>
            <a:ahLst/>
            <a:cxnLst/>
            <a:rect l="l" t="t" r="r" b="b"/>
            <a:pathLst>
              <a:path w="343512" h="220588">
                <a:moveTo>
                  <a:pt x="61509" y="119687"/>
                </a:moveTo>
                <a:lnTo>
                  <a:pt x="90619" y="119687"/>
                </a:lnTo>
                <a:lnTo>
                  <a:pt x="150080" y="142971"/>
                </a:lnTo>
                <a:cubicBezTo>
                  <a:pt x="157535" y="145859"/>
                  <a:pt x="165611" y="146490"/>
                  <a:pt x="171114" y="146490"/>
                </a:cubicBezTo>
                <a:cubicBezTo>
                  <a:pt x="179811" y="146490"/>
                  <a:pt x="188065" y="145048"/>
                  <a:pt x="194365" y="142250"/>
                </a:cubicBezTo>
                <a:lnTo>
                  <a:pt x="247083" y="119687"/>
                </a:lnTo>
                <a:lnTo>
                  <a:pt x="279298" y="119687"/>
                </a:lnTo>
                <a:lnTo>
                  <a:pt x="279298" y="155967"/>
                </a:lnTo>
                <a:cubicBezTo>
                  <a:pt x="279298" y="167158"/>
                  <a:pt x="271134" y="179794"/>
                  <a:pt x="261016" y="184216"/>
                </a:cubicBezTo>
                <a:lnTo>
                  <a:pt x="188242" y="216165"/>
                </a:lnTo>
                <a:cubicBezTo>
                  <a:pt x="178124" y="220587"/>
                  <a:pt x="161795" y="220587"/>
                  <a:pt x="151767" y="216165"/>
                </a:cubicBezTo>
                <a:lnTo>
                  <a:pt x="79703" y="184216"/>
                </a:lnTo>
                <a:cubicBezTo>
                  <a:pt x="69674" y="179794"/>
                  <a:pt x="61509" y="167158"/>
                  <a:pt x="61509" y="155967"/>
                </a:cubicBezTo>
                <a:close/>
                <a:moveTo>
                  <a:pt x="172256" y="56"/>
                </a:moveTo>
                <a:cubicBezTo>
                  <a:pt x="179011" y="0"/>
                  <a:pt x="185777" y="903"/>
                  <a:pt x="190969" y="2753"/>
                </a:cubicBezTo>
                <a:lnTo>
                  <a:pt x="330291" y="53201"/>
                </a:lnTo>
                <a:cubicBezTo>
                  <a:pt x="339076" y="56360"/>
                  <a:pt x="340407" y="61595"/>
                  <a:pt x="334550" y="65746"/>
                </a:cubicBezTo>
                <a:lnTo>
                  <a:pt x="334728" y="65746"/>
                </a:lnTo>
                <a:lnTo>
                  <a:pt x="334728" y="155543"/>
                </a:lnTo>
                <a:lnTo>
                  <a:pt x="343513" y="184603"/>
                </a:lnTo>
                <a:lnTo>
                  <a:pt x="319021" y="184603"/>
                </a:lnTo>
                <a:lnTo>
                  <a:pt x="327540" y="155813"/>
                </a:lnTo>
                <a:lnTo>
                  <a:pt x="327540" y="69175"/>
                </a:lnTo>
                <a:lnTo>
                  <a:pt x="190526" y="127927"/>
                </a:lnTo>
                <a:cubicBezTo>
                  <a:pt x="180409" y="132259"/>
                  <a:pt x="163903" y="132529"/>
                  <a:pt x="153698" y="128559"/>
                </a:cubicBezTo>
                <a:lnTo>
                  <a:pt x="10205" y="72334"/>
                </a:lnTo>
                <a:cubicBezTo>
                  <a:pt x="0" y="68272"/>
                  <a:pt x="0" y="61865"/>
                  <a:pt x="10294" y="57984"/>
                </a:cubicBezTo>
                <a:lnTo>
                  <a:pt x="153609" y="3114"/>
                </a:lnTo>
                <a:cubicBezTo>
                  <a:pt x="158757" y="1127"/>
                  <a:pt x="165500" y="113"/>
                  <a:pt x="172256" y="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77800" y="190500"/>
            <a:ext cx="11849100" cy="1435100"/>
          </a:xfrm>
          <a:prstGeom prst="roundRect">
            <a:avLst>
              <a:gd name="adj" fmla="val 0"/>
            </a:avLst>
          </a:prstGeom>
          <a:solidFill>
            <a:srgbClr val="395E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263900"/>
            <a:ext cx="10160000" cy="1295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6000" b="1" i="0" u="none" strike="noStrike">
                <a:solidFill>
                  <a:srgbClr val="395E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第一部分 研究背景与问题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51400" y="762000"/>
            <a:ext cx="2451100" cy="2451100"/>
          </a:xfrm>
          <a:prstGeom prst="ellipse">
            <a:avLst/>
          </a:prstGeom>
          <a:solidFill>
            <a:srgbClr val="395E7F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5206459" y="1409424"/>
            <a:ext cx="1775381" cy="1140068"/>
          </a:xfrm>
          <a:custGeom>
            <a:avLst/>
            <a:gdLst/>
            <a:ahLst/>
            <a:cxnLst/>
            <a:rect l="l" t="t" r="r" b="b"/>
            <a:pathLst>
              <a:path w="1775381" h="1140068">
                <a:moveTo>
                  <a:pt x="317899" y="618582"/>
                </a:moveTo>
                <a:lnTo>
                  <a:pt x="468347" y="618582"/>
                </a:lnTo>
                <a:lnTo>
                  <a:pt x="775663" y="738925"/>
                </a:lnTo>
                <a:cubicBezTo>
                  <a:pt x="814191" y="753851"/>
                  <a:pt x="855930" y="757115"/>
                  <a:pt x="884368" y="757115"/>
                </a:cubicBezTo>
                <a:cubicBezTo>
                  <a:pt x="929320" y="757115"/>
                  <a:pt x="971978" y="749653"/>
                  <a:pt x="1004541" y="735195"/>
                </a:cubicBezTo>
                <a:lnTo>
                  <a:pt x="1276999" y="618582"/>
                </a:lnTo>
                <a:lnTo>
                  <a:pt x="1443498" y="618582"/>
                </a:lnTo>
                <a:lnTo>
                  <a:pt x="1443498" y="806092"/>
                </a:lnTo>
                <a:cubicBezTo>
                  <a:pt x="1443498" y="863933"/>
                  <a:pt x="1401301" y="929234"/>
                  <a:pt x="1349012" y="952089"/>
                </a:cubicBezTo>
                <a:lnTo>
                  <a:pt x="972892" y="1117212"/>
                </a:lnTo>
                <a:cubicBezTo>
                  <a:pt x="920604" y="1140068"/>
                  <a:pt x="836206" y="1140068"/>
                  <a:pt x="784375" y="1117212"/>
                </a:cubicBezTo>
                <a:lnTo>
                  <a:pt x="411930" y="952089"/>
                </a:lnTo>
                <a:cubicBezTo>
                  <a:pt x="360098" y="929234"/>
                  <a:pt x="317899" y="863933"/>
                  <a:pt x="317899" y="806092"/>
                </a:cubicBezTo>
                <a:close/>
                <a:moveTo>
                  <a:pt x="890273" y="291"/>
                </a:moveTo>
                <a:cubicBezTo>
                  <a:pt x="925185" y="0"/>
                  <a:pt x="960156" y="4665"/>
                  <a:pt x="986984" y="14228"/>
                </a:cubicBezTo>
                <a:lnTo>
                  <a:pt x="1707045" y="274963"/>
                </a:lnTo>
                <a:cubicBezTo>
                  <a:pt x="1752451" y="291289"/>
                  <a:pt x="1759331" y="318341"/>
                  <a:pt x="1729061" y="339799"/>
                </a:cubicBezTo>
                <a:lnTo>
                  <a:pt x="1729975" y="339799"/>
                </a:lnTo>
                <a:lnTo>
                  <a:pt x="1729975" y="803902"/>
                </a:lnTo>
                <a:lnTo>
                  <a:pt x="1775381" y="954093"/>
                </a:lnTo>
                <a:lnTo>
                  <a:pt x="1648798" y="954093"/>
                </a:lnTo>
                <a:lnTo>
                  <a:pt x="1692827" y="805300"/>
                </a:lnTo>
                <a:lnTo>
                  <a:pt x="1692827" y="357524"/>
                </a:lnTo>
                <a:lnTo>
                  <a:pt x="984694" y="661171"/>
                </a:lnTo>
                <a:cubicBezTo>
                  <a:pt x="932409" y="683561"/>
                  <a:pt x="847101" y="684960"/>
                  <a:pt x="794358" y="664436"/>
                </a:cubicBezTo>
                <a:lnTo>
                  <a:pt x="52743" y="373848"/>
                </a:lnTo>
                <a:cubicBezTo>
                  <a:pt x="0" y="352858"/>
                  <a:pt x="0" y="319742"/>
                  <a:pt x="53203" y="299685"/>
                </a:cubicBezTo>
                <a:lnTo>
                  <a:pt x="793901" y="16093"/>
                </a:lnTo>
                <a:cubicBezTo>
                  <a:pt x="820503" y="5832"/>
                  <a:pt x="855356" y="585"/>
                  <a:pt x="890273" y="29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57200" y="342900"/>
            <a:ext cx="469900" cy="469900"/>
          </a:xfrm>
          <a:prstGeom prst="ellipse">
            <a:avLst/>
          </a:prstGeom>
          <a:solidFill>
            <a:srgbClr val="255580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05438" y="482547"/>
            <a:ext cx="343512" cy="220588"/>
          </a:xfrm>
          <a:custGeom>
            <a:avLst/>
            <a:gdLst/>
            <a:ahLst/>
            <a:cxnLst/>
            <a:rect l="l" t="t" r="r" b="b"/>
            <a:pathLst>
              <a:path w="343512" h="220588">
                <a:moveTo>
                  <a:pt x="61509" y="119687"/>
                </a:moveTo>
                <a:lnTo>
                  <a:pt x="90619" y="119687"/>
                </a:lnTo>
                <a:lnTo>
                  <a:pt x="150080" y="142971"/>
                </a:lnTo>
                <a:cubicBezTo>
                  <a:pt x="157535" y="145859"/>
                  <a:pt x="165611" y="146490"/>
                  <a:pt x="171114" y="146490"/>
                </a:cubicBezTo>
                <a:cubicBezTo>
                  <a:pt x="179811" y="146490"/>
                  <a:pt x="188065" y="145048"/>
                  <a:pt x="194365" y="142250"/>
                </a:cubicBezTo>
                <a:lnTo>
                  <a:pt x="247083" y="119687"/>
                </a:lnTo>
                <a:lnTo>
                  <a:pt x="279298" y="119687"/>
                </a:lnTo>
                <a:lnTo>
                  <a:pt x="279298" y="155967"/>
                </a:lnTo>
                <a:cubicBezTo>
                  <a:pt x="279298" y="167158"/>
                  <a:pt x="271134" y="179794"/>
                  <a:pt x="261016" y="184216"/>
                </a:cubicBezTo>
                <a:lnTo>
                  <a:pt x="188242" y="216165"/>
                </a:lnTo>
                <a:cubicBezTo>
                  <a:pt x="178124" y="220587"/>
                  <a:pt x="161795" y="220587"/>
                  <a:pt x="151767" y="216165"/>
                </a:cubicBezTo>
                <a:lnTo>
                  <a:pt x="79703" y="184216"/>
                </a:lnTo>
                <a:cubicBezTo>
                  <a:pt x="69674" y="179794"/>
                  <a:pt x="61509" y="167158"/>
                  <a:pt x="61509" y="155967"/>
                </a:cubicBezTo>
                <a:close/>
                <a:moveTo>
                  <a:pt x="172256" y="56"/>
                </a:moveTo>
                <a:cubicBezTo>
                  <a:pt x="179011" y="0"/>
                  <a:pt x="185777" y="903"/>
                  <a:pt x="190969" y="2753"/>
                </a:cubicBezTo>
                <a:lnTo>
                  <a:pt x="330291" y="53201"/>
                </a:lnTo>
                <a:cubicBezTo>
                  <a:pt x="339076" y="56360"/>
                  <a:pt x="340407" y="61595"/>
                  <a:pt x="334550" y="65746"/>
                </a:cubicBezTo>
                <a:lnTo>
                  <a:pt x="334728" y="65746"/>
                </a:lnTo>
                <a:lnTo>
                  <a:pt x="334728" y="155543"/>
                </a:lnTo>
                <a:lnTo>
                  <a:pt x="343513" y="184603"/>
                </a:lnTo>
                <a:lnTo>
                  <a:pt x="319021" y="184603"/>
                </a:lnTo>
                <a:lnTo>
                  <a:pt x="327540" y="155813"/>
                </a:lnTo>
                <a:lnTo>
                  <a:pt x="327540" y="69175"/>
                </a:lnTo>
                <a:lnTo>
                  <a:pt x="190526" y="127927"/>
                </a:lnTo>
                <a:cubicBezTo>
                  <a:pt x="180409" y="132259"/>
                  <a:pt x="163903" y="132529"/>
                  <a:pt x="153698" y="128559"/>
                </a:cubicBezTo>
                <a:lnTo>
                  <a:pt x="10205" y="72334"/>
                </a:lnTo>
                <a:cubicBezTo>
                  <a:pt x="0" y="68272"/>
                  <a:pt x="0" y="61865"/>
                  <a:pt x="10294" y="57984"/>
                </a:cubicBezTo>
                <a:lnTo>
                  <a:pt x="153609" y="3114"/>
                </a:lnTo>
                <a:cubicBezTo>
                  <a:pt x="158757" y="1127"/>
                  <a:pt x="165500" y="113"/>
                  <a:pt x="172256" y="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317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25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传统管理模式的痛点与研究目标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168900" y="1397000"/>
            <a:ext cx="6223000" cy="2413000"/>
          </a:xfrm>
          <a:prstGeom prst="roundRect">
            <a:avLst>
              <a:gd name="adj" fmla="val 0"/>
            </a:avLst>
          </a:prstGeom>
          <a:solidFill>
            <a:srgbClr val="395E7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334000" y="1524000"/>
            <a:ext cx="584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传统管理模式的三大痛点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通知难触达：</a:t>
            </a: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依赖群</a:t>
            </a:r>
            <a:r>
              <a:rPr lang="zh-CN" altLang="en-US" sz="13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通知</a:t>
            </a: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、口头通知等分散渠道，信息易遗漏，学生获取活动信息效率低。</a:t>
            </a:r>
            <a:endParaRPr lang="en-US" sz="1300" b="0" i="0" u="none" strike="noStrike">
              <a:solidFill>
                <a:srgbClr val="FFFFFF">
                  <a:alpha val="94902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en-US" sz="1300" b="0" i="0" u="none" strike="noStrike">
              <a:solidFill>
                <a:srgbClr val="FFFFFF">
                  <a:alpha val="94902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数据汇总难：</a:t>
            </a: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报名数据分散在纸质表单或Excel中，人工汇总耗时且极易出现统计错误。</a:t>
            </a:r>
            <a:endParaRPr lang="en-US" sz="1300" b="0" i="0" u="none" strike="noStrike">
              <a:solidFill>
                <a:srgbClr val="FFFFFF">
                  <a:alpha val="94902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endParaRPr lang="en-US" sz="1300" b="0" i="0" u="none" strike="noStrike">
              <a:solidFill>
                <a:srgbClr val="FFFFFF">
                  <a:alpha val="94902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签到效率低：</a:t>
            </a: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依赖人工点名或纸质签到，耗时长且难以避免漏签</a:t>
            </a:r>
            <a:r>
              <a:rPr lang="zh-CN" altLang="en-US" sz="13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情况。</a:t>
            </a:r>
            <a:endParaRPr lang="en-US" sz="1300" b="0" i="0" u="none" strike="noStrike">
              <a:solidFill>
                <a:srgbClr val="FFFFFF">
                  <a:alpha val="94902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168900" y="4064000"/>
            <a:ext cx="6223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5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本研究目标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针对上述校园活动管理中存在的信息触达、数据处理及签到核验痛点，本研究旨在设计并实现一个</a:t>
            </a:r>
            <a:r>
              <a:rPr lang="en-US" sz="14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基于微信小程序的校园活动报名系统</a:t>
            </a:r>
            <a:r>
              <a:rPr lang="en-US" sz="14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。通过整合信息发布、在线报名、智能签到等功能，打通活动管理的全流程，最终实现校园活动管理流程的</a:t>
            </a:r>
            <a:r>
              <a:rPr lang="en-US" sz="14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数字化、规范化与高效化</a:t>
            </a:r>
            <a:r>
              <a:rPr lang="en-US" sz="14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，提升管理方与参与方的双重体验。</a:t>
            </a:r>
            <a:endParaRPr lang="en-US" sz="14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75" y="1143001"/>
            <a:ext cx="4761904" cy="47619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57200" y="342900"/>
            <a:ext cx="469900" cy="469900"/>
          </a:xfrm>
          <a:prstGeom prst="ellipse">
            <a:avLst/>
          </a:prstGeom>
          <a:solidFill>
            <a:srgbClr val="255580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05438" y="482547"/>
            <a:ext cx="343512" cy="220588"/>
          </a:xfrm>
          <a:custGeom>
            <a:avLst/>
            <a:gdLst/>
            <a:ahLst/>
            <a:cxnLst/>
            <a:rect l="l" t="t" r="r" b="b"/>
            <a:pathLst>
              <a:path w="343512" h="220588">
                <a:moveTo>
                  <a:pt x="61509" y="119687"/>
                </a:moveTo>
                <a:lnTo>
                  <a:pt x="90619" y="119687"/>
                </a:lnTo>
                <a:lnTo>
                  <a:pt x="150080" y="142971"/>
                </a:lnTo>
                <a:cubicBezTo>
                  <a:pt x="157535" y="145859"/>
                  <a:pt x="165611" y="146490"/>
                  <a:pt x="171114" y="146490"/>
                </a:cubicBezTo>
                <a:cubicBezTo>
                  <a:pt x="179811" y="146490"/>
                  <a:pt x="188065" y="145048"/>
                  <a:pt x="194365" y="142250"/>
                </a:cubicBezTo>
                <a:lnTo>
                  <a:pt x="247083" y="119687"/>
                </a:lnTo>
                <a:lnTo>
                  <a:pt x="279298" y="119687"/>
                </a:lnTo>
                <a:lnTo>
                  <a:pt x="279298" y="155967"/>
                </a:lnTo>
                <a:cubicBezTo>
                  <a:pt x="279298" y="167158"/>
                  <a:pt x="271134" y="179794"/>
                  <a:pt x="261016" y="184216"/>
                </a:cubicBezTo>
                <a:lnTo>
                  <a:pt x="188242" y="216165"/>
                </a:lnTo>
                <a:cubicBezTo>
                  <a:pt x="178124" y="220587"/>
                  <a:pt x="161795" y="220587"/>
                  <a:pt x="151767" y="216165"/>
                </a:cubicBezTo>
                <a:lnTo>
                  <a:pt x="79703" y="184216"/>
                </a:lnTo>
                <a:cubicBezTo>
                  <a:pt x="69674" y="179794"/>
                  <a:pt x="61509" y="167158"/>
                  <a:pt x="61509" y="155967"/>
                </a:cubicBezTo>
                <a:close/>
                <a:moveTo>
                  <a:pt x="172256" y="56"/>
                </a:moveTo>
                <a:cubicBezTo>
                  <a:pt x="179011" y="0"/>
                  <a:pt x="185777" y="903"/>
                  <a:pt x="190969" y="2753"/>
                </a:cubicBezTo>
                <a:lnTo>
                  <a:pt x="330291" y="53201"/>
                </a:lnTo>
                <a:cubicBezTo>
                  <a:pt x="339076" y="56360"/>
                  <a:pt x="340407" y="61595"/>
                  <a:pt x="334550" y="65746"/>
                </a:cubicBezTo>
                <a:lnTo>
                  <a:pt x="334728" y="65746"/>
                </a:lnTo>
                <a:lnTo>
                  <a:pt x="334728" y="155543"/>
                </a:lnTo>
                <a:lnTo>
                  <a:pt x="343513" y="184603"/>
                </a:lnTo>
                <a:lnTo>
                  <a:pt x="319021" y="184603"/>
                </a:lnTo>
                <a:lnTo>
                  <a:pt x="327540" y="155813"/>
                </a:lnTo>
                <a:lnTo>
                  <a:pt x="327540" y="69175"/>
                </a:lnTo>
                <a:lnTo>
                  <a:pt x="190526" y="127927"/>
                </a:lnTo>
                <a:cubicBezTo>
                  <a:pt x="180409" y="132259"/>
                  <a:pt x="163903" y="132529"/>
                  <a:pt x="153698" y="128559"/>
                </a:cubicBezTo>
                <a:lnTo>
                  <a:pt x="10205" y="72334"/>
                </a:lnTo>
                <a:cubicBezTo>
                  <a:pt x="0" y="68272"/>
                  <a:pt x="0" y="61865"/>
                  <a:pt x="10294" y="57984"/>
                </a:cubicBezTo>
                <a:lnTo>
                  <a:pt x="153609" y="3114"/>
                </a:lnTo>
                <a:cubicBezTo>
                  <a:pt x="158757" y="1127"/>
                  <a:pt x="165500" y="113"/>
                  <a:pt x="172256" y="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77800" y="190500"/>
            <a:ext cx="11849100" cy="1435100"/>
          </a:xfrm>
          <a:prstGeom prst="roundRect">
            <a:avLst>
              <a:gd name="adj" fmla="val 0"/>
            </a:avLst>
          </a:prstGeom>
          <a:solidFill>
            <a:srgbClr val="395E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498600" y="3543300"/>
            <a:ext cx="91567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5400" b="1" i="0" u="none" strike="noStrike">
                <a:solidFill>
                  <a:srgbClr val="25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第二部分 系统设计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51400" y="762000"/>
            <a:ext cx="2451100" cy="2451100"/>
          </a:xfrm>
          <a:prstGeom prst="ellipse">
            <a:avLst/>
          </a:prstGeom>
          <a:solidFill>
            <a:srgbClr val="395E7F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5206459" y="1409424"/>
            <a:ext cx="1775381" cy="1140068"/>
          </a:xfrm>
          <a:custGeom>
            <a:avLst/>
            <a:gdLst/>
            <a:ahLst/>
            <a:cxnLst/>
            <a:rect l="l" t="t" r="r" b="b"/>
            <a:pathLst>
              <a:path w="1775381" h="1140068">
                <a:moveTo>
                  <a:pt x="317899" y="618582"/>
                </a:moveTo>
                <a:lnTo>
                  <a:pt x="468347" y="618582"/>
                </a:lnTo>
                <a:lnTo>
                  <a:pt x="775663" y="738925"/>
                </a:lnTo>
                <a:cubicBezTo>
                  <a:pt x="814191" y="753851"/>
                  <a:pt x="855930" y="757115"/>
                  <a:pt x="884368" y="757115"/>
                </a:cubicBezTo>
                <a:cubicBezTo>
                  <a:pt x="929320" y="757115"/>
                  <a:pt x="971978" y="749653"/>
                  <a:pt x="1004541" y="735195"/>
                </a:cubicBezTo>
                <a:lnTo>
                  <a:pt x="1276999" y="618582"/>
                </a:lnTo>
                <a:lnTo>
                  <a:pt x="1443498" y="618582"/>
                </a:lnTo>
                <a:lnTo>
                  <a:pt x="1443498" y="806092"/>
                </a:lnTo>
                <a:cubicBezTo>
                  <a:pt x="1443498" y="863933"/>
                  <a:pt x="1401301" y="929234"/>
                  <a:pt x="1349012" y="952089"/>
                </a:cubicBezTo>
                <a:lnTo>
                  <a:pt x="972892" y="1117212"/>
                </a:lnTo>
                <a:cubicBezTo>
                  <a:pt x="920604" y="1140068"/>
                  <a:pt x="836206" y="1140068"/>
                  <a:pt x="784375" y="1117212"/>
                </a:cubicBezTo>
                <a:lnTo>
                  <a:pt x="411930" y="952089"/>
                </a:lnTo>
                <a:cubicBezTo>
                  <a:pt x="360098" y="929234"/>
                  <a:pt x="317899" y="863933"/>
                  <a:pt x="317899" y="806092"/>
                </a:cubicBezTo>
                <a:close/>
                <a:moveTo>
                  <a:pt x="890273" y="291"/>
                </a:moveTo>
                <a:cubicBezTo>
                  <a:pt x="925185" y="0"/>
                  <a:pt x="960156" y="4665"/>
                  <a:pt x="986984" y="14228"/>
                </a:cubicBezTo>
                <a:lnTo>
                  <a:pt x="1707045" y="274963"/>
                </a:lnTo>
                <a:cubicBezTo>
                  <a:pt x="1752451" y="291289"/>
                  <a:pt x="1759331" y="318341"/>
                  <a:pt x="1729061" y="339799"/>
                </a:cubicBezTo>
                <a:lnTo>
                  <a:pt x="1729975" y="339799"/>
                </a:lnTo>
                <a:lnTo>
                  <a:pt x="1729975" y="803902"/>
                </a:lnTo>
                <a:lnTo>
                  <a:pt x="1775381" y="954093"/>
                </a:lnTo>
                <a:lnTo>
                  <a:pt x="1648798" y="954093"/>
                </a:lnTo>
                <a:lnTo>
                  <a:pt x="1692827" y="805300"/>
                </a:lnTo>
                <a:lnTo>
                  <a:pt x="1692827" y="357524"/>
                </a:lnTo>
                <a:lnTo>
                  <a:pt x="984694" y="661171"/>
                </a:lnTo>
                <a:cubicBezTo>
                  <a:pt x="932409" y="683561"/>
                  <a:pt x="847101" y="684960"/>
                  <a:pt x="794358" y="664436"/>
                </a:cubicBezTo>
                <a:lnTo>
                  <a:pt x="52743" y="373848"/>
                </a:lnTo>
                <a:cubicBezTo>
                  <a:pt x="0" y="352858"/>
                  <a:pt x="0" y="319742"/>
                  <a:pt x="53203" y="299685"/>
                </a:cubicBezTo>
                <a:lnTo>
                  <a:pt x="793901" y="16093"/>
                </a:lnTo>
                <a:cubicBezTo>
                  <a:pt x="820503" y="5832"/>
                  <a:pt x="855356" y="585"/>
                  <a:pt x="890273" y="29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57200" y="342900"/>
            <a:ext cx="469900" cy="469900"/>
          </a:xfrm>
          <a:prstGeom prst="ellipse">
            <a:avLst/>
          </a:prstGeom>
          <a:solidFill>
            <a:srgbClr val="255580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05438" y="482547"/>
            <a:ext cx="343512" cy="220588"/>
          </a:xfrm>
          <a:custGeom>
            <a:avLst/>
            <a:gdLst/>
            <a:ahLst/>
            <a:cxnLst/>
            <a:rect l="l" t="t" r="r" b="b"/>
            <a:pathLst>
              <a:path w="343512" h="220588">
                <a:moveTo>
                  <a:pt x="61509" y="119687"/>
                </a:moveTo>
                <a:lnTo>
                  <a:pt x="90619" y="119687"/>
                </a:lnTo>
                <a:lnTo>
                  <a:pt x="150080" y="142971"/>
                </a:lnTo>
                <a:cubicBezTo>
                  <a:pt x="157535" y="145859"/>
                  <a:pt x="165611" y="146490"/>
                  <a:pt x="171114" y="146490"/>
                </a:cubicBezTo>
                <a:cubicBezTo>
                  <a:pt x="179811" y="146490"/>
                  <a:pt x="188065" y="145048"/>
                  <a:pt x="194365" y="142250"/>
                </a:cubicBezTo>
                <a:lnTo>
                  <a:pt x="247083" y="119687"/>
                </a:lnTo>
                <a:lnTo>
                  <a:pt x="279298" y="119687"/>
                </a:lnTo>
                <a:lnTo>
                  <a:pt x="279298" y="155967"/>
                </a:lnTo>
                <a:cubicBezTo>
                  <a:pt x="279298" y="167158"/>
                  <a:pt x="271134" y="179794"/>
                  <a:pt x="261016" y="184216"/>
                </a:cubicBezTo>
                <a:lnTo>
                  <a:pt x="188242" y="216165"/>
                </a:lnTo>
                <a:cubicBezTo>
                  <a:pt x="178124" y="220587"/>
                  <a:pt x="161795" y="220587"/>
                  <a:pt x="151767" y="216165"/>
                </a:cubicBezTo>
                <a:lnTo>
                  <a:pt x="79703" y="184216"/>
                </a:lnTo>
                <a:cubicBezTo>
                  <a:pt x="69674" y="179794"/>
                  <a:pt x="61509" y="167158"/>
                  <a:pt x="61509" y="155967"/>
                </a:cubicBezTo>
                <a:close/>
                <a:moveTo>
                  <a:pt x="172256" y="56"/>
                </a:moveTo>
                <a:cubicBezTo>
                  <a:pt x="179011" y="0"/>
                  <a:pt x="185777" y="903"/>
                  <a:pt x="190969" y="2753"/>
                </a:cubicBezTo>
                <a:lnTo>
                  <a:pt x="330291" y="53201"/>
                </a:lnTo>
                <a:cubicBezTo>
                  <a:pt x="339076" y="56360"/>
                  <a:pt x="340407" y="61595"/>
                  <a:pt x="334550" y="65746"/>
                </a:cubicBezTo>
                <a:lnTo>
                  <a:pt x="334728" y="65746"/>
                </a:lnTo>
                <a:lnTo>
                  <a:pt x="334728" y="155543"/>
                </a:lnTo>
                <a:lnTo>
                  <a:pt x="343513" y="184603"/>
                </a:lnTo>
                <a:lnTo>
                  <a:pt x="319021" y="184603"/>
                </a:lnTo>
                <a:lnTo>
                  <a:pt x="327540" y="155813"/>
                </a:lnTo>
                <a:lnTo>
                  <a:pt x="327540" y="69175"/>
                </a:lnTo>
                <a:lnTo>
                  <a:pt x="190526" y="127927"/>
                </a:lnTo>
                <a:cubicBezTo>
                  <a:pt x="180409" y="132259"/>
                  <a:pt x="163903" y="132529"/>
                  <a:pt x="153698" y="128559"/>
                </a:cubicBezTo>
                <a:lnTo>
                  <a:pt x="10205" y="72334"/>
                </a:lnTo>
                <a:cubicBezTo>
                  <a:pt x="0" y="68272"/>
                  <a:pt x="0" y="61865"/>
                  <a:pt x="10294" y="57984"/>
                </a:cubicBezTo>
                <a:lnTo>
                  <a:pt x="153609" y="3114"/>
                </a:lnTo>
                <a:cubicBezTo>
                  <a:pt x="158757" y="1127"/>
                  <a:pt x="165500" y="113"/>
                  <a:pt x="172256" y="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39800" y="317500"/>
            <a:ext cx="4064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325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核心技术栈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10763036">
            <a:off x="5511766" y="2686050"/>
            <a:ext cx="1181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ysDot"/>
            <a:miter lim="10000000"/>
            <a:headEnd type="oval" w="med" len="med"/>
            <a:tailEnd type="oval" w="med" len="med"/>
          </a:ln>
        </p:spPr>
      </p:cxnSp>
      <p:cxnSp>
        <p:nvCxnSpPr>
          <p:cNvPr id="9" name="Connector 9"/>
          <p:cNvCxnSpPr/>
          <p:nvPr/>
        </p:nvCxnSpPr>
        <p:spPr>
          <a:xfrm rot="10763036">
            <a:off x="5511766" y="4819650"/>
            <a:ext cx="1181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ysDot"/>
            <a:miter lim="10000000"/>
            <a:headEnd type="oval" w="med" len="med"/>
            <a:tailEnd type="oval" w="med" len="med"/>
          </a:ln>
        </p:spPr>
      </p:cxnSp>
      <p:sp>
        <p:nvSpPr>
          <p:cNvPr id="10" name="AutoShape 10"/>
          <p:cNvSpPr/>
          <p:nvPr/>
        </p:nvSpPr>
        <p:spPr>
          <a:xfrm rot="-2700000">
            <a:off x="4152900" y="2209800"/>
            <a:ext cx="1003300" cy="1003300"/>
          </a:xfrm>
          <a:prstGeom prst="roundRect">
            <a:avLst>
              <a:gd name="adj" fmla="val 0"/>
            </a:avLst>
          </a:prstGeom>
          <a:solidFill>
            <a:srgbClr val="335C80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 rot="-2700000">
            <a:off x="4152900" y="2146300"/>
            <a:ext cx="1003300" cy="1003300"/>
          </a:xfrm>
          <a:prstGeom prst="roundRect">
            <a:avLst>
              <a:gd name="adj" fmla="val 0"/>
            </a:avLst>
          </a:prstGeom>
          <a:solidFill>
            <a:srgbClr val="335C80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 rot="-2700000">
            <a:off x="7035800" y="2197100"/>
            <a:ext cx="1003300" cy="10033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 rot="-2700000">
            <a:off x="7035800" y="2133600"/>
            <a:ext cx="1003300" cy="10033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 rot="-2700000">
            <a:off x="4178300" y="4406900"/>
            <a:ext cx="1003300" cy="10033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 rot="-2700000">
            <a:off x="4178300" y="4356100"/>
            <a:ext cx="1003300" cy="1003300"/>
          </a:xfrm>
          <a:prstGeom prst="roundRect">
            <a:avLst>
              <a:gd name="adj" fmla="val 0"/>
            </a:avLst>
          </a:prstGeom>
          <a:solidFill>
            <a:srgbClr val="7F7F7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 rot="-2700000">
            <a:off x="7010400" y="4406900"/>
            <a:ext cx="1003300" cy="1003300"/>
          </a:xfrm>
          <a:prstGeom prst="roundRect">
            <a:avLst>
              <a:gd name="adj" fmla="val 0"/>
            </a:avLst>
          </a:prstGeom>
          <a:solidFill>
            <a:srgbClr val="335C80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 rot="-2700000">
            <a:off x="7010400" y="4356100"/>
            <a:ext cx="1003300" cy="1003300"/>
          </a:xfrm>
          <a:prstGeom prst="roundRect">
            <a:avLst>
              <a:gd name="adj" fmla="val 0"/>
            </a:avLst>
          </a:prstGeom>
          <a:solidFill>
            <a:srgbClr val="335C80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7327900" y="4635500"/>
            <a:ext cx="384579" cy="413753"/>
          </a:xfrm>
          <a:custGeom>
            <a:avLst/>
            <a:gdLst/>
            <a:ahLst/>
            <a:cxnLst/>
            <a:rect l="l" t="t" r="r" b="b"/>
            <a:pathLst>
              <a:path w="384579" h="413753">
                <a:moveTo>
                  <a:pt x="384579" y="385020"/>
                </a:moveTo>
                <a:cubicBezTo>
                  <a:pt x="384579" y="402260"/>
                  <a:pt x="367359" y="413753"/>
                  <a:pt x="350139" y="413753"/>
                </a:cubicBezTo>
                <a:cubicBezTo>
                  <a:pt x="28699" y="413753"/>
                  <a:pt x="28699" y="413753"/>
                  <a:pt x="28699" y="413753"/>
                </a:cubicBezTo>
                <a:cubicBezTo>
                  <a:pt x="11480" y="413753"/>
                  <a:pt x="0" y="402260"/>
                  <a:pt x="0" y="385020"/>
                </a:cubicBezTo>
                <a:cubicBezTo>
                  <a:pt x="0" y="91945"/>
                  <a:pt x="0" y="91945"/>
                  <a:pt x="0" y="91945"/>
                </a:cubicBezTo>
                <a:cubicBezTo>
                  <a:pt x="0" y="74705"/>
                  <a:pt x="11480" y="63212"/>
                  <a:pt x="28699" y="63212"/>
                </a:cubicBezTo>
                <a:cubicBezTo>
                  <a:pt x="57400" y="63212"/>
                  <a:pt x="57400" y="63212"/>
                  <a:pt x="57400" y="63212"/>
                </a:cubicBezTo>
                <a:cubicBezTo>
                  <a:pt x="57400" y="40226"/>
                  <a:pt x="57400" y="40226"/>
                  <a:pt x="57400" y="40226"/>
                </a:cubicBezTo>
                <a:cubicBezTo>
                  <a:pt x="57400" y="17240"/>
                  <a:pt x="74620" y="0"/>
                  <a:pt x="91840" y="0"/>
                </a:cubicBezTo>
                <a:cubicBezTo>
                  <a:pt x="109060" y="0"/>
                  <a:pt x="109060" y="0"/>
                  <a:pt x="109060" y="0"/>
                </a:cubicBezTo>
                <a:cubicBezTo>
                  <a:pt x="132019" y="0"/>
                  <a:pt x="143500" y="17240"/>
                  <a:pt x="143500" y="40226"/>
                </a:cubicBezTo>
                <a:cubicBezTo>
                  <a:pt x="143500" y="63212"/>
                  <a:pt x="143500" y="63212"/>
                  <a:pt x="143500" y="63212"/>
                </a:cubicBezTo>
                <a:cubicBezTo>
                  <a:pt x="235340" y="63212"/>
                  <a:pt x="235340" y="63212"/>
                  <a:pt x="235340" y="63212"/>
                </a:cubicBezTo>
                <a:cubicBezTo>
                  <a:pt x="235340" y="40226"/>
                  <a:pt x="235340" y="40226"/>
                  <a:pt x="235340" y="40226"/>
                </a:cubicBezTo>
                <a:cubicBezTo>
                  <a:pt x="235340" y="17240"/>
                  <a:pt x="252560" y="0"/>
                  <a:pt x="269780" y="0"/>
                </a:cubicBezTo>
                <a:cubicBezTo>
                  <a:pt x="287000" y="0"/>
                  <a:pt x="287000" y="0"/>
                  <a:pt x="287000" y="0"/>
                </a:cubicBezTo>
                <a:cubicBezTo>
                  <a:pt x="304220" y="0"/>
                  <a:pt x="321440" y="17240"/>
                  <a:pt x="321440" y="40226"/>
                </a:cubicBezTo>
                <a:cubicBezTo>
                  <a:pt x="321440" y="63212"/>
                  <a:pt x="321440" y="63212"/>
                  <a:pt x="321440" y="63212"/>
                </a:cubicBezTo>
                <a:cubicBezTo>
                  <a:pt x="350139" y="63212"/>
                  <a:pt x="350139" y="63212"/>
                  <a:pt x="350139" y="63212"/>
                </a:cubicBezTo>
                <a:cubicBezTo>
                  <a:pt x="367359" y="63212"/>
                  <a:pt x="384579" y="74705"/>
                  <a:pt x="384579" y="91945"/>
                </a:cubicBezTo>
                <a:lnTo>
                  <a:pt x="384579" y="385020"/>
                </a:lnTo>
                <a:close/>
                <a:moveTo>
                  <a:pt x="350139" y="385020"/>
                </a:moveTo>
                <a:cubicBezTo>
                  <a:pt x="350139" y="149410"/>
                  <a:pt x="350139" y="149410"/>
                  <a:pt x="350139" y="149410"/>
                </a:cubicBezTo>
                <a:cubicBezTo>
                  <a:pt x="28699" y="149410"/>
                  <a:pt x="28699" y="149410"/>
                  <a:pt x="28699" y="149410"/>
                </a:cubicBezTo>
                <a:cubicBezTo>
                  <a:pt x="28699" y="385020"/>
                  <a:pt x="28699" y="385020"/>
                  <a:pt x="28699" y="385020"/>
                </a:cubicBezTo>
                <a:lnTo>
                  <a:pt x="350139" y="385020"/>
                </a:lnTo>
                <a:close/>
                <a:moveTo>
                  <a:pt x="114799" y="40226"/>
                </a:moveTo>
                <a:cubicBezTo>
                  <a:pt x="114799" y="34479"/>
                  <a:pt x="114799" y="28732"/>
                  <a:pt x="109060" y="28732"/>
                </a:cubicBezTo>
                <a:cubicBezTo>
                  <a:pt x="91840" y="28732"/>
                  <a:pt x="91840" y="28732"/>
                  <a:pt x="91840" y="28732"/>
                </a:cubicBezTo>
                <a:cubicBezTo>
                  <a:pt x="91840" y="28732"/>
                  <a:pt x="86100" y="34479"/>
                  <a:pt x="86100" y="40226"/>
                </a:cubicBezTo>
                <a:cubicBezTo>
                  <a:pt x="86100" y="103438"/>
                  <a:pt x="86100" y="103438"/>
                  <a:pt x="86100" y="103438"/>
                </a:cubicBezTo>
                <a:cubicBezTo>
                  <a:pt x="86100" y="109184"/>
                  <a:pt x="91840" y="114931"/>
                  <a:pt x="91840" y="114931"/>
                </a:cubicBezTo>
                <a:cubicBezTo>
                  <a:pt x="109060" y="114931"/>
                  <a:pt x="109060" y="114931"/>
                  <a:pt x="109060" y="114931"/>
                </a:cubicBezTo>
                <a:cubicBezTo>
                  <a:pt x="114799" y="114931"/>
                  <a:pt x="114799" y="109184"/>
                  <a:pt x="114799" y="103438"/>
                </a:cubicBezTo>
                <a:lnTo>
                  <a:pt x="114799" y="40226"/>
                </a:lnTo>
                <a:close/>
                <a:moveTo>
                  <a:pt x="292739" y="40226"/>
                </a:moveTo>
                <a:cubicBezTo>
                  <a:pt x="292739" y="34479"/>
                  <a:pt x="292739" y="28732"/>
                  <a:pt x="287000" y="28732"/>
                </a:cubicBezTo>
                <a:cubicBezTo>
                  <a:pt x="269780" y="28732"/>
                  <a:pt x="269780" y="28732"/>
                  <a:pt x="269780" y="28732"/>
                </a:cubicBezTo>
                <a:cubicBezTo>
                  <a:pt x="269780" y="28732"/>
                  <a:pt x="264039" y="34479"/>
                  <a:pt x="264039" y="40226"/>
                </a:cubicBezTo>
                <a:cubicBezTo>
                  <a:pt x="264039" y="103438"/>
                  <a:pt x="264039" y="103438"/>
                  <a:pt x="264039" y="103438"/>
                </a:cubicBezTo>
                <a:cubicBezTo>
                  <a:pt x="264039" y="109184"/>
                  <a:pt x="269780" y="114931"/>
                  <a:pt x="269780" y="114931"/>
                </a:cubicBezTo>
                <a:cubicBezTo>
                  <a:pt x="287000" y="114931"/>
                  <a:pt x="287000" y="114931"/>
                  <a:pt x="287000" y="114931"/>
                </a:cubicBezTo>
                <a:cubicBezTo>
                  <a:pt x="292739" y="114931"/>
                  <a:pt x="292739" y="109184"/>
                  <a:pt x="292739" y="103438"/>
                </a:cubicBezTo>
                <a:lnTo>
                  <a:pt x="292739" y="4022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4445000" y="2451100"/>
            <a:ext cx="419057" cy="366525"/>
          </a:xfrm>
          <a:custGeom>
            <a:avLst/>
            <a:gdLst/>
            <a:ahLst/>
            <a:cxnLst/>
            <a:rect l="l" t="t" r="r" b="b"/>
            <a:pathLst>
              <a:path w="419057" h="366525">
                <a:moveTo>
                  <a:pt x="419057" y="273439"/>
                </a:moveTo>
                <a:cubicBezTo>
                  <a:pt x="419057" y="290892"/>
                  <a:pt x="401836" y="308346"/>
                  <a:pt x="384614" y="308346"/>
                </a:cubicBezTo>
                <a:cubicBezTo>
                  <a:pt x="264063" y="308346"/>
                  <a:pt x="264063" y="308346"/>
                  <a:pt x="264063" y="308346"/>
                </a:cubicBezTo>
                <a:cubicBezTo>
                  <a:pt x="264063" y="325799"/>
                  <a:pt x="275544" y="343253"/>
                  <a:pt x="275544" y="349071"/>
                </a:cubicBezTo>
                <a:cubicBezTo>
                  <a:pt x="275544" y="360707"/>
                  <a:pt x="269804" y="366525"/>
                  <a:pt x="264063" y="366525"/>
                </a:cubicBezTo>
                <a:cubicBezTo>
                  <a:pt x="149253" y="366525"/>
                  <a:pt x="149253" y="366525"/>
                  <a:pt x="149253" y="366525"/>
                </a:cubicBezTo>
                <a:cubicBezTo>
                  <a:pt x="143513" y="366525"/>
                  <a:pt x="137772" y="360707"/>
                  <a:pt x="137772" y="349071"/>
                </a:cubicBezTo>
                <a:cubicBezTo>
                  <a:pt x="137772" y="343253"/>
                  <a:pt x="149253" y="325799"/>
                  <a:pt x="149253" y="308346"/>
                </a:cubicBezTo>
                <a:cubicBezTo>
                  <a:pt x="34444" y="308346"/>
                  <a:pt x="34444" y="308346"/>
                  <a:pt x="34444" y="308346"/>
                </a:cubicBezTo>
                <a:cubicBezTo>
                  <a:pt x="11481" y="308346"/>
                  <a:pt x="0" y="290892"/>
                  <a:pt x="0" y="273439"/>
                </a:cubicBezTo>
                <a:cubicBezTo>
                  <a:pt x="0" y="34907"/>
                  <a:pt x="0" y="34907"/>
                  <a:pt x="0" y="34907"/>
                </a:cubicBezTo>
                <a:cubicBezTo>
                  <a:pt x="0" y="11636"/>
                  <a:pt x="11481" y="0"/>
                  <a:pt x="34444" y="0"/>
                </a:cubicBezTo>
                <a:cubicBezTo>
                  <a:pt x="384614" y="0"/>
                  <a:pt x="384614" y="0"/>
                  <a:pt x="384614" y="0"/>
                </a:cubicBezTo>
                <a:cubicBezTo>
                  <a:pt x="401836" y="0"/>
                  <a:pt x="419057" y="11636"/>
                  <a:pt x="419057" y="34907"/>
                </a:cubicBezTo>
                <a:lnTo>
                  <a:pt x="419057" y="273439"/>
                </a:lnTo>
                <a:close/>
                <a:moveTo>
                  <a:pt x="390355" y="34907"/>
                </a:moveTo>
                <a:cubicBezTo>
                  <a:pt x="390355" y="29089"/>
                  <a:pt x="384614" y="29089"/>
                  <a:pt x="384614" y="29089"/>
                </a:cubicBezTo>
                <a:cubicBezTo>
                  <a:pt x="34444" y="29089"/>
                  <a:pt x="34444" y="29089"/>
                  <a:pt x="34444" y="29089"/>
                </a:cubicBezTo>
                <a:cubicBezTo>
                  <a:pt x="28702" y="29089"/>
                  <a:pt x="28702" y="29089"/>
                  <a:pt x="28702" y="34907"/>
                </a:cubicBezTo>
                <a:cubicBezTo>
                  <a:pt x="28702" y="215261"/>
                  <a:pt x="28702" y="215261"/>
                  <a:pt x="28702" y="215261"/>
                </a:cubicBezTo>
                <a:cubicBezTo>
                  <a:pt x="28702" y="221079"/>
                  <a:pt x="28702" y="226897"/>
                  <a:pt x="34444" y="226897"/>
                </a:cubicBezTo>
                <a:cubicBezTo>
                  <a:pt x="384614" y="226897"/>
                  <a:pt x="384614" y="226897"/>
                  <a:pt x="384614" y="226897"/>
                </a:cubicBezTo>
                <a:cubicBezTo>
                  <a:pt x="384614" y="226897"/>
                  <a:pt x="390355" y="221079"/>
                  <a:pt x="390355" y="215261"/>
                </a:cubicBezTo>
                <a:lnTo>
                  <a:pt x="390355" y="34907"/>
                </a:lnTo>
                <a:close/>
              </a:path>
            </a:pathLst>
          </a:custGeom>
          <a:solidFill>
            <a:srgbClr val="E3DE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4470400" y="4686300"/>
            <a:ext cx="419057" cy="315619"/>
          </a:xfrm>
          <a:custGeom>
            <a:avLst/>
            <a:gdLst/>
            <a:ahLst/>
            <a:cxnLst/>
            <a:rect l="l" t="t" r="r" b="b"/>
            <a:pathLst>
              <a:path w="419057" h="315619">
                <a:moveTo>
                  <a:pt x="419057" y="315619"/>
                </a:moveTo>
                <a:lnTo>
                  <a:pt x="0" y="315619"/>
                </a:lnTo>
                <a:lnTo>
                  <a:pt x="0" y="0"/>
                </a:lnTo>
                <a:lnTo>
                  <a:pt x="23871" y="0"/>
                </a:lnTo>
                <a:lnTo>
                  <a:pt x="23871" y="286445"/>
                </a:lnTo>
                <a:lnTo>
                  <a:pt x="419057" y="286445"/>
                </a:lnTo>
                <a:lnTo>
                  <a:pt x="419057" y="315619"/>
                </a:lnTo>
                <a:close/>
                <a:moveTo>
                  <a:pt x="132613" y="262574"/>
                </a:moveTo>
                <a:lnTo>
                  <a:pt x="76915" y="262574"/>
                </a:lnTo>
                <a:lnTo>
                  <a:pt x="76915" y="159136"/>
                </a:lnTo>
                <a:lnTo>
                  <a:pt x="132613" y="159136"/>
                </a:lnTo>
                <a:lnTo>
                  <a:pt x="132613" y="262574"/>
                </a:lnTo>
                <a:close/>
                <a:moveTo>
                  <a:pt x="206877" y="262574"/>
                </a:moveTo>
                <a:lnTo>
                  <a:pt x="156483" y="262574"/>
                </a:lnTo>
                <a:lnTo>
                  <a:pt x="156483" y="50392"/>
                </a:lnTo>
                <a:lnTo>
                  <a:pt x="206877" y="50392"/>
                </a:lnTo>
                <a:lnTo>
                  <a:pt x="206877" y="262574"/>
                </a:lnTo>
                <a:close/>
                <a:moveTo>
                  <a:pt x="289096" y="262574"/>
                </a:moveTo>
                <a:lnTo>
                  <a:pt x="236051" y="262574"/>
                </a:lnTo>
                <a:lnTo>
                  <a:pt x="236051" y="103438"/>
                </a:lnTo>
                <a:lnTo>
                  <a:pt x="289096" y="103438"/>
                </a:lnTo>
                <a:lnTo>
                  <a:pt x="289096" y="262574"/>
                </a:lnTo>
                <a:close/>
                <a:moveTo>
                  <a:pt x="368664" y="262574"/>
                </a:moveTo>
                <a:lnTo>
                  <a:pt x="315619" y="262574"/>
                </a:lnTo>
                <a:lnTo>
                  <a:pt x="315619" y="29174"/>
                </a:lnTo>
                <a:lnTo>
                  <a:pt x="368664" y="29174"/>
                </a:lnTo>
                <a:lnTo>
                  <a:pt x="368664" y="26257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7391400" y="2387600"/>
            <a:ext cx="297226" cy="482846"/>
          </a:xfrm>
          <a:custGeom>
            <a:avLst/>
            <a:gdLst/>
            <a:ahLst/>
            <a:cxnLst/>
            <a:rect l="l" t="t" r="r" b="b"/>
            <a:pathLst>
              <a:path w="297226" h="482846">
                <a:moveTo>
                  <a:pt x="297226" y="433577"/>
                </a:moveTo>
                <a:cubicBezTo>
                  <a:pt x="297226" y="463139"/>
                  <a:pt x="276728" y="482846"/>
                  <a:pt x="245980" y="482846"/>
                </a:cubicBezTo>
                <a:cubicBezTo>
                  <a:pt x="51246" y="482846"/>
                  <a:pt x="51246" y="482846"/>
                  <a:pt x="51246" y="482846"/>
                </a:cubicBezTo>
                <a:cubicBezTo>
                  <a:pt x="20498" y="482846"/>
                  <a:pt x="0" y="463139"/>
                  <a:pt x="0" y="433577"/>
                </a:cubicBezTo>
                <a:cubicBezTo>
                  <a:pt x="0" y="49270"/>
                  <a:pt x="0" y="49270"/>
                  <a:pt x="0" y="49270"/>
                </a:cubicBezTo>
                <a:cubicBezTo>
                  <a:pt x="0" y="29562"/>
                  <a:pt x="20498" y="0"/>
                  <a:pt x="51246" y="0"/>
                </a:cubicBezTo>
                <a:cubicBezTo>
                  <a:pt x="245980" y="0"/>
                  <a:pt x="245980" y="0"/>
                  <a:pt x="245980" y="0"/>
                </a:cubicBezTo>
                <a:cubicBezTo>
                  <a:pt x="276728" y="0"/>
                  <a:pt x="297226" y="29562"/>
                  <a:pt x="297226" y="49270"/>
                </a:cubicBezTo>
                <a:lnTo>
                  <a:pt x="297226" y="433577"/>
                </a:lnTo>
                <a:close/>
                <a:moveTo>
                  <a:pt x="256229" y="108394"/>
                </a:moveTo>
                <a:cubicBezTo>
                  <a:pt x="256229" y="108394"/>
                  <a:pt x="256229" y="98541"/>
                  <a:pt x="245980" y="98541"/>
                </a:cubicBezTo>
                <a:cubicBezTo>
                  <a:pt x="51246" y="98541"/>
                  <a:pt x="51246" y="98541"/>
                  <a:pt x="51246" y="98541"/>
                </a:cubicBezTo>
                <a:cubicBezTo>
                  <a:pt x="40997" y="98541"/>
                  <a:pt x="30748" y="108394"/>
                  <a:pt x="30748" y="108394"/>
                </a:cubicBezTo>
                <a:cubicBezTo>
                  <a:pt x="30748" y="374453"/>
                  <a:pt x="30748" y="374453"/>
                  <a:pt x="30748" y="374453"/>
                </a:cubicBezTo>
                <a:cubicBezTo>
                  <a:pt x="30748" y="384307"/>
                  <a:pt x="40997" y="384307"/>
                  <a:pt x="51246" y="384307"/>
                </a:cubicBezTo>
                <a:cubicBezTo>
                  <a:pt x="245980" y="384307"/>
                  <a:pt x="245980" y="384307"/>
                  <a:pt x="245980" y="384307"/>
                </a:cubicBezTo>
                <a:cubicBezTo>
                  <a:pt x="256229" y="384307"/>
                  <a:pt x="256229" y="384307"/>
                  <a:pt x="256229" y="374453"/>
                </a:cubicBezTo>
                <a:lnTo>
                  <a:pt x="256229" y="108394"/>
                </a:lnTo>
                <a:close/>
                <a:moveTo>
                  <a:pt x="174236" y="49270"/>
                </a:moveTo>
                <a:cubicBezTo>
                  <a:pt x="112740" y="49270"/>
                  <a:pt x="112740" y="49270"/>
                  <a:pt x="112740" y="49270"/>
                </a:cubicBezTo>
                <a:cubicBezTo>
                  <a:pt x="112740" y="49270"/>
                  <a:pt x="112740" y="59124"/>
                  <a:pt x="112740" y="59124"/>
                </a:cubicBezTo>
                <a:cubicBezTo>
                  <a:pt x="112740" y="59124"/>
                  <a:pt x="112740" y="59124"/>
                  <a:pt x="112740" y="59124"/>
                </a:cubicBezTo>
                <a:cubicBezTo>
                  <a:pt x="174236" y="59124"/>
                  <a:pt x="174236" y="59124"/>
                  <a:pt x="174236" y="59124"/>
                </a:cubicBezTo>
                <a:cubicBezTo>
                  <a:pt x="184485" y="59124"/>
                  <a:pt x="184485" y="59124"/>
                  <a:pt x="184485" y="59124"/>
                </a:cubicBezTo>
                <a:cubicBezTo>
                  <a:pt x="184485" y="59124"/>
                  <a:pt x="184485" y="49270"/>
                  <a:pt x="174236" y="49270"/>
                </a:cubicBezTo>
                <a:close/>
                <a:moveTo>
                  <a:pt x="143488" y="404015"/>
                </a:moveTo>
                <a:cubicBezTo>
                  <a:pt x="133240" y="404015"/>
                  <a:pt x="112740" y="413869"/>
                  <a:pt x="112740" y="433577"/>
                </a:cubicBezTo>
                <a:cubicBezTo>
                  <a:pt x="112740" y="453285"/>
                  <a:pt x="133240" y="463139"/>
                  <a:pt x="143488" y="463139"/>
                </a:cubicBezTo>
                <a:cubicBezTo>
                  <a:pt x="163987" y="463139"/>
                  <a:pt x="174236" y="453285"/>
                  <a:pt x="174236" y="433577"/>
                </a:cubicBezTo>
                <a:cubicBezTo>
                  <a:pt x="174236" y="413869"/>
                  <a:pt x="163987" y="404015"/>
                  <a:pt x="143488" y="40401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2" name="Connector 22"/>
          <p:cNvCxnSpPr/>
          <p:nvPr/>
        </p:nvCxnSpPr>
        <p:spPr>
          <a:xfrm rot="-5425370">
            <a:off x="4394188" y="3848088"/>
            <a:ext cx="344172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ysDot"/>
            <a:miter lim="10000000"/>
            <a:headEnd type="oval" w="med" len="med"/>
            <a:tailEnd type="oval" w="med" len="med"/>
          </a:ln>
        </p:spPr>
      </p:cxnSp>
      <p:sp>
        <p:nvSpPr>
          <p:cNvPr id="23" name="AutoShape 23"/>
          <p:cNvSpPr/>
          <p:nvPr/>
        </p:nvSpPr>
        <p:spPr>
          <a:xfrm>
            <a:off x="6019800" y="2578100"/>
            <a:ext cx="190500" cy="190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019800" y="4737100"/>
            <a:ext cx="190500" cy="190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231900" y="2362200"/>
            <a:ext cx="24257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采用UniApp框架实现跨平台开发，Vue 3提供高效的响应式数据绑定，兼顾多端适配与开发效率。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231900" y="1905000"/>
            <a:ext cx="24257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25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前端：UniApp 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231900" y="4495800"/>
            <a:ext cx="24257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利用Spring Boot的“约定大于配置”优势快速搭建项目，自动配置大幅简化开发流程与部署难度。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231900" y="4038600"/>
            <a:ext cx="24257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25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后端：Spring Boot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432800" y="2362200"/>
            <a:ext cx="24257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选用成熟的MySQL 8.0关系型数据库，通过精细化的索引优化，保障系统在高并发场景下的查询性能与数据一致性。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432800" y="1905000"/>
            <a:ext cx="24257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25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数据库：MySQL 8.0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432800" y="4495800"/>
            <a:ext cx="24257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集成Google开源的ZXing库，高效实现动态二维码的实时生成与快速解析，支撑核心的“扫码签到”业务功能。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432800" y="4038600"/>
            <a:ext cx="24257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25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关键技术：ZXing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57200" y="342900"/>
            <a:ext cx="469900" cy="469900"/>
          </a:xfrm>
          <a:prstGeom prst="ellipse">
            <a:avLst/>
          </a:prstGeom>
          <a:solidFill>
            <a:srgbClr val="255580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05438" y="482547"/>
            <a:ext cx="343512" cy="220588"/>
          </a:xfrm>
          <a:custGeom>
            <a:avLst/>
            <a:gdLst/>
            <a:ahLst/>
            <a:cxnLst/>
            <a:rect l="l" t="t" r="r" b="b"/>
            <a:pathLst>
              <a:path w="343512" h="220588">
                <a:moveTo>
                  <a:pt x="61509" y="119687"/>
                </a:moveTo>
                <a:lnTo>
                  <a:pt x="90619" y="119687"/>
                </a:lnTo>
                <a:lnTo>
                  <a:pt x="150080" y="142971"/>
                </a:lnTo>
                <a:cubicBezTo>
                  <a:pt x="157535" y="145859"/>
                  <a:pt x="165611" y="146490"/>
                  <a:pt x="171114" y="146490"/>
                </a:cubicBezTo>
                <a:cubicBezTo>
                  <a:pt x="179811" y="146490"/>
                  <a:pt x="188065" y="145048"/>
                  <a:pt x="194365" y="142250"/>
                </a:cubicBezTo>
                <a:lnTo>
                  <a:pt x="247083" y="119687"/>
                </a:lnTo>
                <a:lnTo>
                  <a:pt x="279298" y="119687"/>
                </a:lnTo>
                <a:lnTo>
                  <a:pt x="279298" y="155967"/>
                </a:lnTo>
                <a:cubicBezTo>
                  <a:pt x="279298" y="167158"/>
                  <a:pt x="271134" y="179794"/>
                  <a:pt x="261016" y="184216"/>
                </a:cubicBezTo>
                <a:lnTo>
                  <a:pt x="188242" y="216165"/>
                </a:lnTo>
                <a:cubicBezTo>
                  <a:pt x="178124" y="220587"/>
                  <a:pt x="161795" y="220587"/>
                  <a:pt x="151767" y="216165"/>
                </a:cubicBezTo>
                <a:lnTo>
                  <a:pt x="79703" y="184216"/>
                </a:lnTo>
                <a:cubicBezTo>
                  <a:pt x="69674" y="179794"/>
                  <a:pt x="61509" y="167158"/>
                  <a:pt x="61509" y="155967"/>
                </a:cubicBezTo>
                <a:close/>
                <a:moveTo>
                  <a:pt x="172256" y="56"/>
                </a:moveTo>
                <a:cubicBezTo>
                  <a:pt x="179011" y="0"/>
                  <a:pt x="185777" y="903"/>
                  <a:pt x="190969" y="2753"/>
                </a:cubicBezTo>
                <a:lnTo>
                  <a:pt x="330291" y="53201"/>
                </a:lnTo>
                <a:cubicBezTo>
                  <a:pt x="339076" y="56360"/>
                  <a:pt x="340407" y="61595"/>
                  <a:pt x="334550" y="65746"/>
                </a:cubicBezTo>
                <a:lnTo>
                  <a:pt x="334728" y="65746"/>
                </a:lnTo>
                <a:lnTo>
                  <a:pt x="334728" y="155543"/>
                </a:lnTo>
                <a:lnTo>
                  <a:pt x="343513" y="184603"/>
                </a:lnTo>
                <a:lnTo>
                  <a:pt x="319021" y="184603"/>
                </a:lnTo>
                <a:lnTo>
                  <a:pt x="327540" y="155813"/>
                </a:lnTo>
                <a:lnTo>
                  <a:pt x="327540" y="69175"/>
                </a:lnTo>
                <a:lnTo>
                  <a:pt x="190526" y="127927"/>
                </a:lnTo>
                <a:cubicBezTo>
                  <a:pt x="180409" y="132259"/>
                  <a:pt x="163903" y="132529"/>
                  <a:pt x="153698" y="128559"/>
                </a:cubicBezTo>
                <a:lnTo>
                  <a:pt x="10205" y="72334"/>
                </a:lnTo>
                <a:cubicBezTo>
                  <a:pt x="0" y="68272"/>
                  <a:pt x="0" y="61865"/>
                  <a:pt x="10294" y="57984"/>
                </a:cubicBezTo>
                <a:lnTo>
                  <a:pt x="153609" y="3114"/>
                </a:lnTo>
                <a:cubicBezTo>
                  <a:pt x="158757" y="1127"/>
                  <a:pt x="165500" y="113"/>
                  <a:pt x="172256" y="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77800" y="190500"/>
            <a:ext cx="11849100" cy="1435100"/>
          </a:xfrm>
          <a:prstGeom prst="roundRect">
            <a:avLst>
              <a:gd name="adj" fmla="val 0"/>
            </a:avLst>
          </a:prstGeom>
          <a:solidFill>
            <a:srgbClr val="395E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397000" y="3479800"/>
            <a:ext cx="9398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5400" b="1" i="0" u="none" strike="noStrike">
                <a:solidFill>
                  <a:srgbClr val="25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第三部分 核心</a:t>
            </a:r>
            <a:r>
              <a:rPr lang="zh-CN" altLang="en-US" sz="5400" b="1" i="0" u="none" strike="noStrike">
                <a:solidFill>
                  <a:srgbClr val="25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流程</a:t>
            </a:r>
            <a:endParaRPr lang="zh-CN" altLang="en-US" sz="5400" b="1" i="0" u="none" strike="noStrike">
              <a:solidFill>
                <a:srgbClr val="255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851400" y="762000"/>
            <a:ext cx="2451100" cy="2451100"/>
          </a:xfrm>
          <a:prstGeom prst="ellipse">
            <a:avLst/>
          </a:prstGeom>
          <a:solidFill>
            <a:srgbClr val="395E7F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067300" y="16002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03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57200" y="342900"/>
            <a:ext cx="469900" cy="469900"/>
          </a:xfrm>
          <a:prstGeom prst="ellipse">
            <a:avLst/>
          </a:prstGeom>
          <a:solidFill>
            <a:srgbClr val="255580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05438" y="482547"/>
            <a:ext cx="343512" cy="220588"/>
          </a:xfrm>
          <a:custGeom>
            <a:avLst/>
            <a:gdLst/>
            <a:ahLst/>
            <a:cxnLst/>
            <a:rect l="l" t="t" r="r" b="b"/>
            <a:pathLst>
              <a:path w="343512" h="220588">
                <a:moveTo>
                  <a:pt x="61509" y="119687"/>
                </a:moveTo>
                <a:lnTo>
                  <a:pt x="90619" y="119687"/>
                </a:lnTo>
                <a:lnTo>
                  <a:pt x="150080" y="142971"/>
                </a:lnTo>
                <a:cubicBezTo>
                  <a:pt x="157535" y="145859"/>
                  <a:pt x="165611" y="146490"/>
                  <a:pt x="171114" y="146490"/>
                </a:cubicBezTo>
                <a:cubicBezTo>
                  <a:pt x="179811" y="146490"/>
                  <a:pt x="188065" y="145048"/>
                  <a:pt x="194365" y="142250"/>
                </a:cubicBezTo>
                <a:lnTo>
                  <a:pt x="247083" y="119687"/>
                </a:lnTo>
                <a:lnTo>
                  <a:pt x="279298" y="119687"/>
                </a:lnTo>
                <a:lnTo>
                  <a:pt x="279298" y="155967"/>
                </a:lnTo>
                <a:cubicBezTo>
                  <a:pt x="279298" y="167158"/>
                  <a:pt x="271134" y="179794"/>
                  <a:pt x="261016" y="184216"/>
                </a:cubicBezTo>
                <a:lnTo>
                  <a:pt x="188242" y="216165"/>
                </a:lnTo>
                <a:cubicBezTo>
                  <a:pt x="178124" y="220587"/>
                  <a:pt x="161795" y="220587"/>
                  <a:pt x="151767" y="216165"/>
                </a:cubicBezTo>
                <a:lnTo>
                  <a:pt x="79703" y="184216"/>
                </a:lnTo>
                <a:cubicBezTo>
                  <a:pt x="69674" y="179794"/>
                  <a:pt x="61509" y="167158"/>
                  <a:pt x="61509" y="155967"/>
                </a:cubicBezTo>
                <a:close/>
                <a:moveTo>
                  <a:pt x="172256" y="56"/>
                </a:moveTo>
                <a:cubicBezTo>
                  <a:pt x="179011" y="0"/>
                  <a:pt x="185777" y="903"/>
                  <a:pt x="190969" y="2753"/>
                </a:cubicBezTo>
                <a:lnTo>
                  <a:pt x="330291" y="53201"/>
                </a:lnTo>
                <a:cubicBezTo>
                  <a:pt x="339076" y="56360"/>
                  <a:pt x="340407" y="61595"/>
                  <a:pt x="334550" y="65746"/>
                </a:cubicBezTo>
                <a:lnTo>
                  <a:pt x="334728" y="65746"/>
                </a:lnTo>
                <a:lnTo>
                  <a:pt x="334728" y="155543"/>
                </a:lnTo>
                <a:lnTo>
                  <a:pt x="343513" y="184603"/>
                </a:lnTo>
                <a:lnTo>
                  <a:pt x="319021" y="184603"/>
                </a:lnTo>
                <a:lnTo>
                  <a:pt x="327540" y="155813"/>
                </a:lnTo>
                <a:lnTo>
                  <a:pt x="327540" y="69175"/>
                </a:lnTo>
                <a:lnTo>
                  <a:pt x="190526" y="127927"/>
                </a:lnTo>
                <a:cubicBezTo>
                  <a:pt x="180409" y="132259"/>
                  <a:pt x="163903" y="132529"/>
                  <a:pt x="153698" y="128559"/>
                </a:cubicBezTo>
                <a:lnTo>
                  <a:pt x="10205" y="72334"/>
                </a:lnTo>
                <a:cubicBezTo>
                  <a:pt x="0" y="68272"/>
                  <a:pt x="0" y="61865"/>
                  <a:pt x="10294" y="57984"/>
                </a:cubicBezTo>
                <a:lnTo>
                  <a:pt x="153609" y="3114"/>
                </a:lnTo>
                <a:cubicBezTo>
                  <a:pt x="158757" y="1127"/>
                  <a:pt x="165500" y="113"/>
                  <a:pt x="172256" y="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39800" y="317500"/>
            <a:ext cx="7620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25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活动全流程管理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000" y="1905000"/>
            <a:ext cx="1016000" cy="1016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" y="3175000"/>
            <a:ext cx="304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E4A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活动发布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3048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社团管理员通过富文本编辑器创建活动，填写详细信息，一键发布活动通知。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1905000"/>
            <a:ext cx="1016000" cy="1016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572000" y="3175000"/>
            <a:ext cx="304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E4A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审核机制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4191000"/>
            <a:ext cx="3048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所有活动需经超级管理员审核通过后才能正式对外发布，严格把控内容质量，确保活动合规性。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0" y="1905000"/>
            <a:ext cx="1016000" cy="1016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382000" y="3175000"/>
            <a:ext cx="304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E4A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报名管理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4191000"/>
            <a:ext cx="3048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支持设置报名人数上限、开启报名审核功能，并支持动态释放名额，灵活高效地管理活动报名流程。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57200" y="342900"/>
            <a:ext cx="469900" cy="469900"/>
          </a:xfrm>
          <a:prstGeom prst="ellipse">
            <a:avLst/>
          </a:prstGeom>
          <a:solidFill>
            <a:srgbClr val="255580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05438" y="482547"/>
            <a:ext cx="343512" cy="220588"/>
          </a:xfrm>
          <a:custGeom>
            <a:avLst/>
            <a:gdLst/>
            <a:ahLst/>
            <a:cxnLst/>
            <a:rect l="l" t="t" r="r" b="b"/>
            <a:pathLst>
              <a:path w="343512" h="220588">
                <a:moveTo>
                  <a:pt x="61509" y="119687"/>
                </a:moveTo>
                <a:lnTo>
                  <a:pt x="90619" y="119687"/>
                </a:lnTo>
                <a:lnTo>
                  <a:pt x="150080" y="142971"/>
                </a:lnTo>
                <a:cubicBezTo>
                  <a:pt x="157535" y="145859"/>
                  <a:pt x="165611" y="146490"/>
                  <a:pt x="171114" y="146490"/>
                </a:cubicBezTo>
                <a:cubicBezTo>
                  <a:pt x="179811" y="146490"/>
                  <a:pt x="188065" y="145048"/>
                  <a:pt x="194365" y="142250"/>
                </a:cubicBezTo>
                <a:lnTo>
                  <a:pt x="247083" y="119687"/>
                </a:lnTo>
                <a:lnTo>
                  <a:pt x="279298" y="119687"/>
                </a:lnTo>
                <a:lnTo>
                  <a:pt x="279298" y="155967"/>
                </a:lnTo>
                <a:cubicBezTo>
                  <a:pt x="279298" y="167158"/>
                  <a:pt x="271134" y="179794"/>
                  <a:pt x="261016" y="184216"/>
                </a:cubicBezTo>
                <a:lnTo>
                  <a:pt x="188242" y="216165"/>
                </a:lnTo>
                <a:cubicBezTo>
                  <a:pt x="178124" y="220587"/>
                  <a:pt x="161795" y="220587"/>
                  <a:pt x="151767" y="216165"/>
                </a:cubicBezTo>
                <a:lnTo>
                  <a:pt x="79703" y="184216"/>
                </a:lnTo>
                <a:cubicBezTo>
                  <a:pt x="69674" y="179794"/>
                  <a:pt x="61509" y="167158"/>
                  <a:pt x="61509" y="155967"/>
                </a:cubicBezTo>
                <a:close/>
                <a:moveTo>
                  <a:pt x="172256" y="56"/>
                </a:moveTo>
                <a:cubicBezTo>
                  <a:pt x="179011" y="0"/>
                  <a:pt x="185777" y="903"/>
                  <a:pt x="190969" y="2753"/>
                </a:cubicBezTo>
                <a:lnTo>
                  <a:pt x="330291" y="53201"/>
                </a:lnTo>
                <a:cubicBezTo>
                  <a:pt x="339076" y="56360"/>
                  <a:pt x="340407" y="61595"/>
                  <a:pt x="334550" y="65746"/>
                </a:cubicBezTo>
                <a:lnTo>
                  <a:pt x="334728" y="65746"/>
                </a:lnTo>
                <a:lnTo>
                  <a:pt x="334728" y="155543"/>
                </a:lnTo>
                <a:lnTo>
                  <a:pt x="343513" y="184603"/>
                </a:lnTo>
                <a:lnTo>
                  <a:pt x="319021" y="184603"/>
                </a:lnTo>
                <a:lnTo>
                  <a:pt x="327540" y="155813"/>
                </a:lnTo>
                <a:lnTo>
                  <a:pt x="327540" y="69175"/>
                </a:lnTo>
                <a:lnTo>
                  <a:pt x="190526" y="127927"/>
                </a:lnTo>
                <a:cubicBezTo>
                  <a:pt x="180409" y="132259"/>
                  <a:pt x="163903" y="132529"/>
                  <a:pt x="153698" y="128559"/>
                </a:cubicBezTo>
                <a:lnTo>
                  <a:pt x="10205" y="72334"/>
                </a:lnTo>
                <a:cubicBezTo>
                  <a:pt x="0" y="68272"/>
                  <a:pt x="0" y="61865"/>
                  <a:pt x="10294" y="57984"/>
                </a:cubicBezTo>
                <a:lnTo>
                  <a:pt x="153609" y="3114"/>
                </a:lnTo>
                <a:cubicBezTo>
                  <a:pt x="158757" y="1127"/>
                  <a:pt x="165500" y="113"/>
                  <a:pt x="172256" y="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77800" y="190500"/>
            <a:ext cx="11849100" cy="1435100"/>
          </a:xfrm>
          <a:prstGeom prst="roundRect">
            <a:avLst>
              <a:gd name="adj" fmla="val 0"/>
            </a:avLst>
          </a:prstGeom>
          <a:solidFill>
            <a:srgbClr val="395E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397000" y="3479800"/>
            <a:ext cx="9398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5400" b="1" i="0" u="none" strike="noStrike">
                <a:solidFill>
                  <a:srgbClr val="25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第四部分 系统结论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51400" y="762000"/>
            <a:ext cx="2451100" cy="2451100"/>
          </a:xfrm>
          <a:prstGeom prst="ellipse">
            <a:avLst/>
          </a:prstGeom>
          <a:solidFill>
            <a:srgbClr val="395E7F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5206459" y="1409424"/>
            <a:ext cx="1775381" cy="1140068"/>
          </a:xfrm>
          <a:custGeom>
            <a:avLst/>
            <a:gdLst/>
            <a:ahLst/>
            <a:cxnLst/>
            <a:rect l="l" t="t" r="r" b="b"/>
            <a:pathLst>
              <a:path w="1775381" h="1140068">
                <a:moveTo>
                  <a:pt x="317899" y="618582"/>
                </a:moveTo>
                <a:lnTo>
                  <a:pt x="468347" y="618582"/>
                </a:lnTo>
                <a:lnTo>
                  <a:pt x="775663" y="738925"/>
                </a:lnTo>
                <a:cubicBezTo>
                  <a:pt x="814191" y="753851"/>
                  <a:pt x="855930" y="757115"/>
                  <a:pt x="884368" y="757115"/>
                </a:cubicBezTo>
                <a:cubicBezTo>
                  <a:pt x="929320" y="757115"/>
                  <a:pt x="971978" y="749653"/>
                  <a:pt x="1004541" y="735195"/>
                </a:cubicBezTo>
                <a:lnTo>
                  <a:pt x="1276999" y="618582"/>
                </a:lnTo>
                <a:lnTo>
                  <a:pt x="1443498" y="618582"/>
                </a:lnTo>
                <a:lnTo>
                  <a:pt x="1443498" y="806092"/>
                </a:lnTo>
                <a:cubicBezTo>
                  <a:pt x="1443498" y="863933"/>
                  <a:pt x="1401301" y="929234"/>
                  <a:pt x="1349012" y="952089"/>
                </a:cubicBezTo>
                <a:lnTo>
                  <a:pt x="972892" y="1117212"/>
                </a:lnTo>
                <a:cubicBezTo>
                  <a:pt x="920604" y="1140068"/>
                  <a:pt x="836206" y="1140068"/>
                  <a:pt x="784375" y="1117212"/>
                </a:cubicBezTo>
                <a:lnTo>
                  <a:pt x="411930" y="952089"/>
                </a:lnTo>
                <a:cubicBezTo>
                  <a:pt x="360098" y="929234"/>
                  <a:pt x="317899" y="863933"/>
                  <a:pt x="317899" y="806092"/>
                </a:cubicBezTo>
                <a:close/>
                <a:moveTo>
                  <a:pt x="890273" y="291"/>
                </a:moveTo>
                <a:cubicBezTo>
                  <a:pt x="925185" y="0"/>
                  <a:pt x="960156" y="4665"/>
                  <a:pt x="986984" y="14228"/>
                </a:cubicBezTo>
                <a:lnTo>
                  <a:pt x="1707045" y="274963"/>
                </a:lnTo>
                <a:cubicBezTo>
                  <a:pt x="1752451" y="291289"/>
                  <a:pt x="1759331" y="318341"/>
                  <a:pt x="1729061" y="339799"/>
                </a:cubicBezTo>
                <a:lnTo>
                  <a:pt x="1729975" y="339799"/>
                </a:lnTo>
                <a:lnTo>
                  <a:pt x="1729975" y="803902"/>
                </a:lnTo>
                <a:lnTo>
                  <a:pt x="1775381" y="954093"/>
                </a:lnTo>
                <a:lnTo>
                  <a:pt x="1648798" y="954093"/>
                </a:lnTo>
                <a:lnTo>
                  <a:pt x="1692827" y="805300"/>
                </a:lnTo>
                <a:lnTo>
                  <a:pt x="1692827" y="357524"/>
                </a:lnTo>
                <a:lnTo>
                  <a:pt x="984694" y="661171"/>
                </a:lnTo>
                <a:cubicBezTo>
                  <a:pt x="932409" y="683561"/>
                  <a:pt x="847101" y="684960"/>
                  <a:pt x="794358" y="664436"/>
                </a:cubicBezTo>
                <a:lnTo>
                  <a:pt x="52743" y="373848"/>
                </a:lnTo>
                <a:cubicBezTo>
                  <a:pt x="0" y="352858"/>
                  <a:pt x="0" y="319742"/>
                  <a:pt x="53203" y="299685"/>
                </a:cubicBezTo>
                <a:lnTo>
                  <a:pt x="793901" y="16093"/>
                </a:lnTo>
                <a:cubicBezTo>
                  <a:pt x="820503" y="5832"/>
                  <a:pt x="855356" y="585"/>
                  <a:pt x="890273" y="29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57200" y="342900"/>
            <a:ext cx="469900" cy="469900"/>
          </a:xfrm>
          <a:prstGeom prst="ellipse">
            <a:avLst/>
          </a:prstGeom>
          <a:solidFill>
            <a:srgbClr val="255580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05438" y="482547"/>
            <a:ext cx="343512" cy="220588"/>
          </a:xfrm>
          <a:custGeom>
            <a:avLst/>
            <a:gdLst/>
            <a:ahLst/>
            <a:cxnLst/>
            <a:rect l="l" t="t" r="r" b="b"/>
            <a:pathLst>
              <a:path w="343512" h="220588">
                <a:moveTo>
                  <a:pt x="61509" y="119687"/>
                </a:moveTo>
                <a:lnTo>
                  <a:pt x="90619" y="119687"/>
                </a:lnTo>
                <a:lnTo>
                  <a:pt x="150080" y="142971"/>
                </a:lnTo>
                <a:cubicBezTo>
                  <a:pt x="157535" y="145859"/>
                  <a:pt x="165611" y="146490"/>
                  <a:pt x="171114" y="146490"/>
                </a:cubicBezTo>
                <a:cubicBezTo>
                  <a:pt x="179811" y="146490"/>
                  <a:pt x="188065" y="145048"/>
                  <a:pt x="194365" y="142250"/>
                </a:cubicBezTo>
                <a:lnTo>
                  <a:pt x="247083" y="119687"/>
                </a:lnTo>
                <a:lnTo>
                  <a:pt x="279298" y="119687"/>
                </a:lnTo>
                <a:lnTo>
                  <a:pt x="279298" y="155967"/>
                </a:lnTo>
                <a:cubicBezTo>
                  <a:pt x="279298" y="167158"/>
                  <a:pt x="271134" y="179794"/>
                  <a:pt x="261016" y="184216"/>
                </a:cubicBezTo>
                <a:lnTo>
                  <a:pt x="188242" y="216165"/>
                </a:lnTo>
                <a:cubicBezTo>
                  <a:pt x="178124" y="220587"/>
                  <a:pt x="161795" y="220587"/>
                  <a:pt x="151767" y="216165"/>
                </a:cubicBezTo>
                <a:lnTo>
                  <a:pt x="79703" y="184216"/>
                </a:lnTo>
                <a:cubicBezTo>
                  <a:pt x="69674" y="179794"/>
                  <a:pt x="61509" y="167158"/>
                  <a:pt x="61509" y="155967"/>
                </a:cubicBezTo>
                <a:close/>
                <a:moveTo>
                  <a:pt x="172256" y="56"/>
                </a:moveTo>
                <a:cubicBezTo>
                  <a:pt x="179011" y="0"/>
                  <a:pt x="185777" y="903"/>
                  <a:pt x="190969" y="2753"/>
                </a:cubicBezTo>
                <a:lnTo>
                  <a:pt x="330291" y="53201"/>
                </a:lnTo>
                <a:cubicBezTo>
                  <a:pt x="339076" y="56360"/>
                  <a:pt x="340407" y="61595"/>
                  <a:pt x="334550" y="65746"/>
                </a:cubicBezTo>
                <a:lnTo>
                  <a:pt x="334728" y="65746"/>
                </a:lnTo>
                <a:lnTo>
                  <a:pt x="334728" y="155543"/>
                </a:lnTo>
                <a:lnTo>
                  <a:pt x="343513" y="184603"/>
                </a:lnTo>
                <a:lnTo>
                  <a:pt x="319021" y="184603"/>
                </a:lnTo>
                <a:lnTo>
                  <a:pt x="327540" y="155813"/>
                </a:lnTo>
                <a:lnTo>
                  <a:pt x="327540" y="69175"/>
                </a:lnTo>
                <a:lnTo>
                  <a:pt x="190526" y="127927"/>
                </a:lnTo>
                <a:cubicBezTo>
                  <a:pt x="180409" y="132259"/>
                  <a:pt x="163903" y="132529"/>
                  <a:pt x="153698" y="128559"/>
                </a:cubicBezTo>
                <a:lnTo>
                  <a:pt x="10205" y="72334"/>
                </a:lnTo>
                <a:cubicBezTo>
                  <a:pt x="0" y="68272"/>
                  <a:pt x="0" y="61865"/>
                  <a:pt x="10294" y="57984"/>
                </a:cubicBezTo>
                <a:lnTo>
                  <a:pt x="153609" y="3114"/>
                </a:lnTo>
                <a:cubicBezTo>
                  <a:pt x="158757" y="1127"/>
                  <a:pt x="165500" y="113"/>
                  <a:pt x="172256" y="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39800" y="317500"/>
            <a:ext cx="4064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325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</a:t>
            </a:r>
            <a:endParaRPr lang="en-US" sz="1100"/>
          </a:p>
        </p:txBody>
      </p:sp>
      <p:sp>
        <p:nvSpPr>
          <p:cNvPr id="8" name="Freeform 8"/>
          <p:cNvSpPr/>
          <p:nvPr>
            <p:custDataLst>
              <p:tags r:id="rId1"/>
            </p:custDataLst>
          </p:nvPr>
        </p:nvSpPr>
        <p:spPr>
          <a:xfrm>
            <a:off x="1993900" y="2349500"/>
            <a:ext cx="1242818" cy="1242817"/>
          </a:xfrm>
          <a:custGeom>
            <a:avLst/>
            <a:gdLst/>
            <a:ahLst/>
            <a:cxnLst/>
            <a:rect l="l" t="t" r="r" b="b"/>
            <a:pathLst>
              <a:path w="1242818" h="1242817">
                <a:moveTo>
                  <a:pt x="0" y="621408"/>
                </a:moveTo>
                <a:cubicBezTo>
                  <a:pt x="0" y="456601"/>
                  <a:pt x="65470" y="298543"/>
                  <a:pt x="182006" y="182006"/>
                </a:cubicBezTo>
                <a:cubicBezTo>
                  <a:pt x="298544" y="65470"/>
                  <a:pt x="456602" y="0"/>
                  <a:pt x="621408" y="0"/>
                </a:cubicBezTo>
                <a:cubicBezTo>
                  <a:pt x="786216" y="0"/>
                  <a:pt x="944275" y="65470"/>
                  <a:pt x="1060812" y="182006"/>
                </a:cubicBezTo>
                <a:cubicBezTo>
                  <a:pt x="1177347" y="298544"/>
                  <a:pt x="1242818" y="456601"/>
                  <a:pt x="1242818" y="621408"/>
                </a:cubicBezTo>
                <a:cubicBezTo>
                  <a:pt x="1242818" y="786216"/>
                  <a:pt x="1177347" y="944274"/>
                  <a:pt x="1060812" y="1060811"/>
                </a:cubicBezTo>
                <a:cubicBezTo>
                  <a:pt x="944274" y="1177347"/>
                  <a:pt x="786216" y="1242817"/>
                  <a:pt x="621408" y="1242817"/>
                </a:cubicBezTo>
                <a:cubicBezTo>
                  <a:pt x="456602" y="1242817"/>
                  <a:pt x="298543" y="1177347"/>
                  <a:pt x="182006" y="1060811"/>
                </a:cubicBezTo>
                <a:cubicBezTo>
                  <a:pt x="65470" y="944273"/>
                  <a:pt x="0" y="786216"/>
                  <a:pt x="0" y="621408"/>
                </a:cubicBezTo>
                <a:close/>
              </a:path>
            </a:pathLst>
          </a:cu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>
            <p:custDataLst>
              <p:tags r:id="rId2"/>
            </p:custDataLst>
          </p:nvPr>
        </p:nvSpPr>
        <p:spPr>
          <a:xfrm>
            <a:off x="2311400" y="2667000"/>
            <a:ext cx="621033" cy="621906"/>
          </a:xfrm>
          <a:custGeom>
            <a:avLst/>
            <a:gdLst/>
            <a:ahLst/>
            <a:cxnLst/>
            <a:rect l="l" t="t" r="r" b="b"/>
            <a:pathLst>
              <a:path w="621033" h="621906">
                <a:moveTo>
                  <a:pt x="572513" y="621906"/>
                </a:moveTo>
                <a:cubicBezTo>
                  <a:pt x="553107" y="621906"/>
                  <a:pt x="543403" y="612035"/>
                  <a:pt x="533700" y="602163"/>
                </a:cubicBezTo>
                <a:cubicBezTo>
                  <a:pt x="407552" y="473833"/>
                  <a:pt x="407552" y="473833"/>
                  <a:pt x="407552" y="473833"/>
                </a:cubicBezTo>
                <a:cubicBezTo>
                  <a:pt x="368738" y="503448"/>
                  <a:pt x="320219" y="523192"/>
                  <a:pt x="261998" y="523192"/>
                </a:cubicBezTo>
                <a:cubicBezTo>
                  <a:pt x="116444" y="523192"/>
                  <a:pt x="0" y="404732"/>
                  <a:pt x="0" y="256659"/>
                </a:cubicBezTo>
                <a:cubicBezTo>
                  <a:pt x="0" y="118458"/>
                  <a:pt x="116444" y="0"/>
                  <a:pt x="261998" y="0"/>
                </a:cubicBezTo>
                <a:cubicBezTo>
                  <a:pt x="407552" y="0"/>
                  <a:pt x="523996" y="118458"/>
                  <a:pt x="523996" y="256659"/>
                </a:cubicBezTo>
                <a:cubicBezTo>
                  <a:pt x="523996" y="315890"/>
                  <a:pt x="504589" y="365247"/>
                  <a:pt x="475478" y="404732"/>
                </a:cubicBezTo>
                <a:cubicBezTo>
                  <a:pt x="601624" y="533062"/>
                  <a:pt x="601624" y="533062"/>
                  <a:pt x="601624" y="533062"/>
                </a:cubicBezTo>
                <a:cubicBezTo>
                  <a:pt x="611328" y="542934"/>
                  <a:pt x="621033" y="562677"/>
                  <a:pt x="621033" y="572549"/>
                </a:cubicBezTo>
                <a:cubicBezTo>
                  <a:pt x="621033" y="602163"/>
                  <a:pt x="591922" y="621906"/>
                  <a:pt x="572513" y="621906"/>
                </a:cubicBezTo>
                <a:close/>
                <a:moveTo>
                  <a:pt x="261998" y="88844"/>
                </a:moveTo>
                <a:cubicBezTo>
                  <a:pt x="174666" y="88844"/>
                  <a:pt x="97036" y="167817"/>
                  <a:pt x="97036" y="256659"/>
                </a:cubicBezTo>
                <a:cubicBezTo>
                  <a:pt x="97036" y="355375"/>
                  <a:pt x="174666" y="424476"/>
                  <a:pt x="261998" y="424476"/>
                </a:cubicBezTo>
                <a:cubicBezTo>
                  <a:pt x="359034" y="424476"/>
                  <a:pt x="426960" y="355375"/>
                  <a:pt x="426960" y="256659"/>
                </a:cubicBezTo>
                <a:cubicBezTo>
                  <a:pt x="426960" y="167817"/>
                  <a:pt x="359034" y="88844"/>
                  <a:pt x="261998" y="8884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 rot="10800000">
            <a:off x="1498600" y="1866900"/>
            <a:ext cx="2108200" cy="2082800"/>
          </a:xfrm>
          <a:prstGeom prst="uturnArrow">
            <a:avLst>
              <a:gd name="adj1" fmla="val 12130"/>
              <a:gd name="adj2" fmla="val 12902"/>
              <a:gd name="adj3" fmla="val 0"/>
              <a:gd name="adj4" fmla="val 47102"/>
              <a:gd name="adj5" fmla="val 51834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4"/>
            </p:custDataLst>
          </p:nvPr>
        </p:nvSpPr>
        <p:spPr>
          <a:xfrm>
            <a:off x="3136900" y="1409700"/>
            <a:ext cx="673100" cy="673100"/>
          </a:xfrm>
          <a:prstGeom prst="triangle">
            <a:avLst>
              <a:gd name="adj" fmla="val 50000"/>
            </a:avLst>
          </a:prstGeom>
          <a:solidFill>
            <a:srgbClr val="335C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 rot="10800000">
            <a:off x="3771900" y="1866900"/>
            <a:ext cx="2108200" cy="2082800"/>
          </a:xfrm>
          <a:prstGeom prst="uturnArrow">
            <a:avLst>
              <a:gd name="adj1" fmla="val 12130"/>
              <a:gd name="adj2" fmla="val 12902"/>
              <a:gd name="adj3" fmla="val 0"/>
              <a:gd name="adj4" fmla="val 47102"/>
              <a:gd name="adj5" fmla="val 51834"/>
            </a:avLst>
          </a:prstGeom>
          <a:solidFill>
            <a:srgbClr val="335C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5410200" y="1409700"/>
            <a:ext cx="673100" cy="673100"/>
          </a:xfrm>
          <a:prstGeom prst="triangle">
            <a:avLst>
              <a:gd name="adj" fmla="val 50000"/>
            </a:avLst>
          </a:prstGeom>
          <a:solidFill>
            <a:srgbClr val="335C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 rot="10800000">
            <a:off x="6083300" y="1866900"/>
            <a:ext cx="2108200" cy="2082800"/>
          </a:xfrm>
          <a:prstGeom prst="uturnArrow">
            <a:avLst>
              <a:gd name="adj1" fmla="val 12130"/>
              <a:gd name="adj2" fmla="val 12902"/>
              <a:gd name="adj3" fmla="val 0"/>
              <a:gd name="adj4" fmla="val 47102"/>
              <a:gd name="adj5" fmla="val 51834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7721600" y="1409700"/>
            <a:ext cx="673100" cy="673100"/>
          </a:xfrm>
          <a:prstGeom prst="triangle">
            <a:avLst>
              <a:gd name="adj" fmla="val 50000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 rot="10800000">
            <a:off x="8382000" y="1866900"/>
            <a:ext cx="2108200" cy="2082800"/>
          </a:xfrm>
          <a:prstGeom prst="uturnArrow">
            <a:avLst>
              <a:gd name="adj1" fmla="val 12130"/>
              <a:gd name="adj2" fmla="val 12902"/>
              <a:gd name="adj3" fmla="val 0"/>
              <a:gd name="adj4" fmla="val 47102"/>
              <a:gd name="adj5" fmla="val 51834"/>
            </a:avLst>
          </a:prstGeom>
          <a:solidFill>
            <a:srgbClr val="335C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0"/>
            </p:custDataLst>
          </p:nvPr>
        </p:nvSpPr>
        <p:spPr>
          <a:xfrm>
            <a:off x="10020300" y="1409700"/>
            <a:ext cx="673100" cy="673100"/>
          </a:xfrm>
          <a:prstGeom prst="triangle">
            <a:avLst>
              <a:gd name="adj" fmla="val 50000"/>
            </a:avLst>
          </a:prstGeom>
          <a:solidFill>
            <a:srgbClr val="335C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>
            <p:custDataLst>
              <p:tags r:id="rId11"/>
            </p:custDataLst>
          </p:nvPr>
        </p:nvSpPr>
        <p:spPr>
          <a:xfrm>
            <a:off x="4267200" y="2349500"/>
            <a:ext cx="1242818" cy="1242817"/>
          </a:xfrm>
          <a:custGeom>
            <a:avLst/>
            <a:gdLst/>
            <a:ahLst/>
            <a:cxnLst/>
            <a:rect l="l" t="t" r="r" b="b"/>
            <a:pathLst>
              <a:path w="1242818" h="1242817">
                <a:moveTo>
                  <a:pt x="0" y="621408"/>
                </a:moveTo>
                <a:cubicBezTo>
                  <a:pt x="0" y="456601"/>
                  <a:pt x="65470" y="298543"/>
                  <a:pt x="182006" y="182006"/>
                </a:cubicBezTo>
                <a:cubicBezTo>
                  <a:pt x="298544" y="65470"/>
                  <a:pt x="456602" y="0"/>
                  <a:pt x="621408" y="0"/>
                </a:cubicBezTo>
                <a:cubicBezTo>
                  <a:pt x="786216" y="0"/>
                  <a:pt x="944275" y="65470"/>
                  <a:pt x="1060812" y="182006"/>
                </a:cubicBezTo>
                <a:cubicBezTo>
                  <a:pt x="1177347" y="298544"/>
                  <a:pt x="1242818" y="456601"/>
                  <a:pt x="1242818" y="621408"/>
                </a:cubicBezTo>
                <a:cubicBezTo>
                  <a:pt x="1242818" y="786216"/>
                  <a:pt x="1177347" y="944274"/>
                  <a:pt x="1060812" y="1060811"/>
                </a:cubicBezTo>
                <a:cubicBezTo>
                  <a:pt x="944274" y="1177347"/>
                  <a:pt x="786216" y="1242817"/>
                  <a:pt x="621408" y="1242817"/>
                </a:cubicBezTo>
                <a:cubicBezTo>
                  <a:pt x="456602" y="1242817"/>
                  <a:pt x="298543" y="1177347"/>
                  <a:pt x="182006" y="1060811"/>
                </a:cubicBezTo>
                <a:cubicBezTo>
                  <a:pt x="65470" y="944273"/>
                  <a:pt x="0" y="786216"/>
                  <a:pt x="0" y="621408"/>
                </a:cubicBezTo>
                <a:close/>
              </a:path>
            </a:pathLst>
          </a:custGeom>
          <a:solidFill>
            <a:srgbClr val="335C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>
            <p:custDataLst>
              <p:tags r:id="rId12"/>
            </p:custDataLst>
          </p:nvPr>
        </p:nvSpPr>
        <p:spPr>
          <a:xfrm>
            <a:off x="4572000" y="2692400"/>
            <a:ext cx="647148" cy="561202"/>
          </a:xfrm>
          <a:custGeom>
            <a:avLst/>
            <a:gdLst/>
            <a:ahLst/>
            <a:cxnLst/>
            <a:rect l="l" t="t" r="r" b="b"/>
            <a:pathLst>
              <a:path w="647148" h="561202">
                <a:moveTo>
                  <a:pt x="647148" y="286103"/>
                </a:moveTo>
                <a:cubicBezTo>
                  <a:pt x="647148" y="297106"/>
                  <a:pt x="636180" y="308111"/>
                  <a:pt x="625211" y="308111"/>
                </a:cubicBezTo>
                <a:cubicBezTo>
                  <a:pt x="219372" y="352127"/>
                  <a:pt x="219372" y="352127"/>
                  <a:pt x="219372" y="352127"/>
                </a:cubicBezTo>
                <a:cubicBezTo>
                  <a:pt x="219372" y="363130"/>
                  <a:pt x="219372" y="374134"/>
                  <a:pt x="219372" y="385138"/>
                </a:cubicBezTo>
                <a:cubicBezTo>
                  <a:pt x="219372" y="396142"/>
                  <a:pt x="219372" y="396142"/>
                  <a:pt x="208403" y="407145"/>
                </a:cubicBezTo>
                <a:cubicBezTo>
                  <a:pt x="570367" y="407145"/>
                  <a:pt x="570367" y="407145"/>
                  <a:pt x="570367" y="407145"/>
                </a:cubicBezTo>
                <a:cubicBezTo>
                  <a:pt x="592305" y="407145"/>
                  <a:pt x="603274" y="418150"/>
                  <a:pt x="603274" y="429153"/>
                </a:cubicBezTo>
                <a:cubicBezTo>
                  <a:pt x="603274" y="451161"/>
                  <a:pt x="592305" y="462166"/>
                  <a:pt x="570367" y="462166"/>
                </a:cubicBezTo>
                <a:cubicBezTo>
                  <a:pt x="175497" y="462166"/>
                  <a:pt x="175497" y="462166"/>
                  <a:pt x="175497" y="462166"/>
                </a:cubicBezTo>
                <a:cubicBezTo>
                  <a:pt x="164530" y="462166"/>
                  <a:pt x="142592" y="451161"/>
                  <a:pt x="142592" y="429153"/>
                </a:cubicBezTo>
                <a:cubicBezTo>
                  <a:pt x="142592" y="418150"/>
                  <a:pt x="164530" y="385138"/>
                  <a:pt x="175497" y="374134"/>
                </a:cubicBezTo>
                <a:cubicBezTo>
                  <a:pt x="98717" y="55020"/>
                  <a:pt x="98717" y="55020"/>
                  <a:pt x="98717" y="55020"/>
                </a:cubicBezTo>
                <a:cubicBezTo>
                  <a:pt x="21937" y="55020"/>
                  <a:pt x="21937" y="55020"/>
                  <a:pt x="21937" y="55020"/>
                </a:cubicBezTo>
                <a:cubicBezTo>
                  <a:pt x="10969" y="55020"/>
                  <a:pt x="0" y="44016"/>
                  <a:pt x="0" y="33012"/>
                </a:cubicBezTo>
                <a:cubicBezTo>
                  <a:pt x="0" y="22008"/>
                  <a:pt x="10969" y="0"/>
                  <a:pt x="21937" y="0"/>
                </a:cubicBezTo>
                <a:cubicBezTo>
                  <a:pt x="120655" y="0"/>
                  <a:pt x="120655" y="0"/>
                  <a:pt x="120655" y="0"/>
                </a:cubicBezTo>
                <a:cubicBezTo>
                  <a:pt x="153561" y="0"/>
                  <a:pt x="153561" y="33012"/>
                  <a:pt x="153561" y="55020"/>
                </a:cubicBezTo>
                <a:cubicBezTo>
                  <a:pt x="625211" y="55020"/>
                  <a:pt x="625211" y="55020"/>
                  <a:pt x="625211" y="55020"/>
                </a:cubicBezTo>
                <a:cubicBezTo>
                  <a:pt x="636180" y="55020"/>
                  <a:pt x="647148" y="66023"/>
                  <a:pt x="647148" y="77028"/>
                </a:cubicBezTo>
                <a:lnTo>
                  <a:pt x="647148" y="286103"/>
                </a:lnTo>
                <a:close/>
                <a:moveTo>
                  <a:pt x="197435" y="561202"/>
                </a:moveTo>
                <a:cubicBezTo>
                  <a:pt x="175497" y="561202"/>
                  <a:pt x="142592" y="539194"/>
                  <a:pt x="142592" y="506181"/>
                </a:cubicBezTo>
                <a:cubicBezTo>
                  <a:pt x="142592" y="484174"/>
                  <a:pt x="175497" y="462166"/>
                  <a:pt x="197435" y="462166"/>
                </a:cubicBezTo>
                <a:cubicBezTo>
                  <a:pt x="230341" y="462166"/>
                  <a:pt x="252278" y="484174"/>
                  <a:pt x="252278" y="506181"/>
                </a:cubicBezTo>
                <a:cubicBezTo>
                  <a:pt x="252278" y="539194"/>
                  <a:pt x="230341" y="561202"/>
                  <a:pt x="197435" y="561202"/>
                </a:cubicBezTo>
                <a:close/>
                <a:moveTo>
                  <a:pt x="548430" y="561202"/>
                </a:moveTo>
                <a:cubicBezTo>
                  <a:pt x="515525" y="561202"/>
                  <a:pt x="493588" y="539194"/>
                  <a:pt x="493588" y="506181"/>
                </a:cubicBezTo>
                <a:cubicBezTo>
                  <a:pt x="493588" y="484174"/>
                  <a:pt x="515525" y="462166"/>
                  <a:pt x="548430" y="462166"/>
                </a:cubicBezTo>
                <a:cubicBezTo>
                  <a:pt x="581336" y="462166"/>
                  <a:pt x="603274" y="484174"/>
                  <a:pt x="603274" y="506181"/>
                </a:cubicBezTo>
                <a:cubicBezTo>
                  <a:pt x="603274" y="539194"/>
                  <a:pt x="581336" y="561202"/>
                  <a:pt x="548430" y="56120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>
            <p:custDataLst>
              <p:tags r:id="rId13"/>
            </p:custDataLst>
          </p:nvPr>
        </p:nvSpPr>
        <p:spPr>
          <a:xfrm>
            <a:off x="6578600" y="2349500"/>
            <a:ext cx="1242818" cy="1242817"/>
          </a:xfrm>
          <a:custGeom>
            <a:avLst/>
            <a:gdLst/>
            <a:ahLst/>
            <a:cxnLst/>
            <a:rect l="l" t="t" r="r" b="b"/>
            <a:pathLst>
              <a:path w="1242818" h="1242817">
                <a:moveTo>
                  <a:pt x="0" y="621408"/>
                </a:moveTo>
                <a:cubicBezTo>
                  <a:pt x="0" y="456601"/>
                  <a:pt x="65470" y="298543"/>
                  <a:pt x="182006" y="182006"/>
                </a:cubicBezTo>
                <a:cubicBezTo>
                  <a:pt x="298544" y="65470"/>
                  <a:pt x="456602" y="0"/>
                  <a:pt x="621408" y="0"/>
                </a:cubicBezTo>
                <a:cubicBezTo>
                  <a:pt x="786216" y="0"/>
                  <a:pt x="944275" y="65470"/>
                  <a:pt x="1060812" y="182006"/>
                </a:cubicBezTo>
                <a:cubicBezTo>
                  <a:pt x="1177347" y="298544"/>
                  <a:pt x="1242818" y="456601"/>
                  <a:pt x="1242818" y="621408"/>
                </a:cubicBezTo>
                <a:cubicBezTo>
                  <a:pt x="1242818" y="786216"/>
                  <a:pt x="1177347" y="944274"/>
                  <a:pt x="1060812" y="1060811"/>
                </a:cubicBezTo>
                <a:cubicBezTo>
                  <a:pt x="944274" y="1177347"/>
                  <a:pt x="786216" y="1242817"/>
                  <a:pt x="621408" y="1242817"/>
                </a:cubicBezTo>
                <a:cubicBezTo>
                  <a:pt x="456602" y="1242817"/>
                  <a:pt x="298543" y="1177347"/>
                  <a:pt x="182006" y="1060811"/>
                </a:cubicBezTo>
                <a:cubicBezTo>
                  <a:pt x="65470" y="944273"/>
                  <a:pt x="0" y="786216"/>
                  <a:pt x="0" y="621408"/>
                </a:cubicBezTo>
                <a:close/>
              </a:path>
            </a:pathLst>
          </a:cu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>
            <p:custDataLst>
              <p:tags r:id="rId14"/>
            </p:custDataLst>
          </p:nvPr>
        </p:nvSpPr>
        <p:spPr>
          <a:xfrm>
            <a:off x="6896100" y="2679700"/>
            <a:ext cx="626055" cy="586619"/>
          </a:xfrm>
          <a:custGeom>
            <a:avLst/>
            <a:gdLst/>
            <a:ahLst/>
            <a:cxnLst/>
            <a:rect l="l" t="t" r="r" b="b"/>
            <a:pathLst>
              <a:path w="626055" h="586619">
                <a:moveTo>
                  <a:pt x="320422" y="108450"/>
                </a:moveTo>
                <a:lnTo>
                  <a:pt x="128168" y="221831"/>
                </a:lnTo>
                <a:lnTo>
                  <a:pt x="0" y="128168"/>
                </a:lnTo>
                <a:lnTo>
                  <a:pt x="192254" y="0"/>
                </a:lnTo>
                <a:lnTo>
                  <a:pt x="320422" y="108450"/>
                </a:lnTo>
                <a:close/>
                <a:moveTo>
                  <a:pt x="320422" y="340140"/>
                </a:moveTo>
                <a:lnTo>
                  <a:pt x="192254" y="448591"/>
                </a:lnTo>
                <a:lnTo>
                  <a:pt x="0" y="330281"/>
                </a:lnTo>
                <a:lnTo>
                  <a:pt x="128168" y="221831"/>
                </a:lnTo>
                <a:lnTo>
                  <a:pt x="320422" y="340140"/>
                </a:lnTo>
                <a:close/>
                <a:moveTo>
                  <a:pt x="497887" y="478169"/>
                </a:moveTo>
                <a:lnTo>
                  <a:pt x="320422" y="586619"/>
                </a:lnTo>
                <a:lnTo>
                  <a:pt x="320422" y="586619"/>
                </a:lnTo>
                <a:lnTo>
                  <a:pt x="320422" y="586619"/>
                </a:lnTo>
                <a:lnTo>
                  <a:pt x="320422" y="586619"/>
                </a:lnTo>
                <a:lnTo>
                  <a:pt x="320422" y="586619"/>
                </a:lnTo>
                <a:lnTo>
                  <a:pt x="128168" y="478169"/>
                </a:lnTo>
                <a:lnTo>
                  <a:pt x="128168" y="438732"/>
                </a:lnTo>
                <a:lnTo>
                  <a:pt x="192254" y="468309"/>
                </a:lnTo>
                <a:lnTo>
                  <a:pt x="320422" y="364788"/>
                </a:lnTo>
                <a:lnTo>
                  <a:pt x="320422" y="364788"/>
                </a:lnTo>
                <a:lnTo>
                  <a:pt x="320422" y="364788"/>
                </a:lnTo>
                <a:lnTo>
                  <a:pt x="320422" y="364788"/>
                </a:lnTo>
                <a:lnTo>
                  <a:pt x="320422" y="364788"/>
                </a:lnTo>
                <a:lnTo>
                  <a:pt x="448592" y="468309"/>
                </a:lnTo>
                <a:lnTo>
                  <a:pt x="497887" y="438732"/>
                </a:lnTo>
                <a:lnTo>
                  <a:pt x="497887" y="478169"/>
                </a:lnTo>
                <a:close/>
                <a:moveTo>
                  <a:pt x="626055" y="128168"/>
                </a:moveTo>
                <a:lnTo>
                  <a:pt x="497887" y="221831"/>
                </a:lnTo>
                <a:lnTo>
                  <a:pt x="320422" y="108450"/>
                </a:lnTo>
                <a:lnTo>
                  <a:pt x="448592" y="0"/>
                </a:lnTo>
                <a:lnTo>
                  <a:pt x="626055" y="128168"/>
                </a:lnTo>
                <a:close/>
                <a:moveTo>
                  <a:pt x="626055" y="330281"/>
                </a:moveTo>
                <a:lnTo>
                  <a:pt x="448592" y="448591"/>
                </a:lnTo>
                <a:lnTo>
                  <a:pt x="320422" y="340140"/>
                </a:lnTo>
                <a:lnTo>
                  <a:pt x="497887" y="221831"/>
                </a:lnTo>
                <a:lnTo>
                  <a:pt x="626055" y="33028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>
            <p:custDataLst>
              <p:tags r:id="rId15"/>
            </p:custDataLst>
          </p:nvPr>
        </p:nvSpPr>
        <p:spPr>
          <a:xfrm>
            <a:off x="8890000" y="2349500"/>
            <a:ext cx="1242818" cy="1242817"/>
          </a:xfrm>
          <a:custGeom>
            <a:avLst/>
            <a:gdLst/>
            <a:ahLst/>
            <a:cxnLst/>
            <a:rect l="l" t="t" r="r" b="b"/>
            <a:pathLst>
              <a:path w="1242818" h="1242817">
                <a:moveTo>
                  <a:pt x="0" y="621408"/>
                </a:moveTo>
                <a:cubicBezTo>
                  <a:pt x="0" y="456601"/>
                  <a:pt x="65470" y="298543"/>
                  <a:pt x="182006" y="182006"/>
                </a:cubicBezTo>
                <a:cubicBezTo>
                  <a:pt x="298544" y="65470"/>
                  <a:pt x="456602" y="0"/>
                  <a:pt x="621408" y="0"/>
                </a:cubicBezTo>
                <a:cubicBezTo>
                  <a:pt x="786216" y="0"/>
                  <a:pt x="944275" y="65470"/>
                  <a:pt x="1060812" y="182006"/>
                </a:cubicBezTo>
                <a:cubicBezTo>
                  <a:pt x="1177347" y="298544"/>
                  <a:pt x="1242818" y="456601"/>
                  <a:pt x="1242818" y="621408"/>
                </a:cubicBezTo>
                <a:cubicBezTo>
                  <a:pt x="1242818" y="786216"/>
                  <a:pt x="1177347" y="944274"/>
                  <a:pt x="1060812" y="1060811"/>
                </a:cubicBezTo>
                <a:cubicBezTo>
                  <a:pt x="944274" y="1177347"/>
                  <a:pt x="786216" y="1242817"/>
                  <a:pt x="621408" y="1242817"/>
                </a:cubicBezTo>
                <a:cubicBezTo>
                  <a:pt x="456602" y="1242817"/>
                  <a:pt x="298543" y="1177347"/>
                  <a:pt x="182006" y="1060811"/>
                </a:cubicBezTo>
                <a:cubicBezTo>
                  <a:pt x="65470" y="944273"/>
                  <a:pt x="0" y="786216"/>
                  <a:pt x="0" y="621408"/>
                </a:cubicBezTo>
                <a:close/>
              </a:path>
            </a:pathLst>
          </a:custGeom>
          <a:solidFill>
            <a:srgbClr val="335C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>
            <p:custDataLst>
              <p:tags r:id="rId16"/>
            </p:custDataLst>
          </p:nvPr>
        </p:nvSpPr>
        <p:spPr>
          <a:xfrm>
            <a:off x="9144000" y="2781300"/>
            <a:ext cx="556141" cy="358432"/>
          </a:xfrm>
          <a:custGeom>
            <a:avLst/>
            <a:gdLst/>
            <a:ahLst/>
            <a:cxnLst/>
            <a:rect l="l" t="t" r="r" b="b"/>
            <a:pathLst>
              <a:path w="556141" h="358432">
                <a:moveTo>
                  <a:pt x="556141" y="358432"/>
                </a:moveTo>
                <a:lnTo>
                  <a:pt x="225773" y="358432"/>
                </a:lnTo>
                <a:lnTo>
                  <a:pt x="86737" y="39543"/>
                </a:lnTo>
                <a:lnTo>
                  <a:pt x="0" y="39543"/>
                </a:lnTo>
                <a:lnTo>
                  <a:pt x="0" y="0"/>
                </a:lnTo>
                <a:lnTo>
                  <a:pt x="112249" y="0"/>
                </a:lnTo>
                <a:lnTo>
                  <a:pt x="251283" y="318889"/>
                </a:lnTo>
                <a:lnTo>
                  <a:pt x="556141" y="318889"/>
                </a:lnTo>
                <a:lnTo>
                  <a:pt x="556141" y="358432"/>
                </a:lnTo>
                <a:close/>
                <a:moveTo>
                  <a:pt x="556141" y="358432"/>
                </a:moveTo>
                <a:lnTo>
                  <a:pt x="556141" y="3584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>
            <p:custDataLst>
              <p:tags r:id="rId17"/>
            </p:custDataLst>
          </p:nvPr>
        </p:nvSpPr>
        <p:spPr>
          <a:xfrm>
            <a:off x="9144000" y="2781300"/>
            <a:ext cx="556141" cy="358432"/>
          </a:xfrm>
          <a:custGeom>
            <a:avLst/>
            <a:gdLst/>
            <a:ahLst/>
            <a:cxnLst/>
            <a:rect l="l" t="t" r="r" b="b"/>
            <a:pathLst>
              <a:path w="556141" h="358432">
                <a:moveTo>
                  <a:pt x="556141" y="358432"/>
                </a:moveTo>
                <a:lnTo>
                  <a:pt x="225773" y="358432"/>
                </a:lnTo>
                <a:lnTo>
                  <a:pt x="86737" y="39543"/>
                </a:lnTo>
                <a:lnTo>
                  <a:pt x="0" y="39543"/>
                </a:lnTo>
                <a:lnTo>
                  <a:pt x="0" y="0"/>
                </a:lnTo>
                <a:lnTo>
                  <a:pt x="112249" y="0"/>
                </a:lnTo>
                <a:lnTo>
                  <a:pt x="251283" y="318889"/>
                </a:lnTo>
                <a:lnTo>
                  <a:pt x="556141" y="318889"/>
                </a:lnTo>
                <a:lnTo>
                  <a:pt x="556141" y="358432"/>
                </a:lnTo>
                <a:moveTo>
                  <a:pt x="556141" y="358432"/>
                </a:moveTo>
                <a:lnTo>
                  <a:pt x="556141" y="358432"/>
                </a:ln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>
            <p:custDataLst>
              <p:tags r:id="rId18"/>
            </p:custDataLst>
          </p:nvPr>
        </p:nvSpPr>
        <p:spPr>
          <a:xfrm>
            <a:off x="9385300" y="3175000"/>
            <a:ext cx="118627" cy="118627"/>
          </a:xfrm>
          <a:custGeom>
            <a:avLst/>
            <a:gdLst/>
            <a:ahLst/>
            <a:cxnLst/>
            <a:rect l="l" t="t" r="r" b="b"/>
            <a:pathLst>
              <a:path w="118627" h="118627">
                <a:moveTo>
                  <a:pt x="118627" y="58769"/>
                </a:moveTo>
                <a:cubicBezTo>
                  <a:pt x="118627" y="91418"/>
                  <a:pt x="91418" y="118627"/>
                  <a:pt x="58769" y="118627"/>
                </a:cubicBezTo>
                <a:cubicBezTo>
                  <a:pt x="26120" y="118627"/>
                  <a:pt x="0" y="91418"/>
                  <a:pt x="0" y="58769"/>
                </a:cubicBezTo>
                <a:cubicBezTo>
                  <a:pt x="0" y="26120"/>
                  <a:pt x="26120" y="0"/>
                  <a:pt x="58769" y="0"/>
                </a:cubicBezTo>
                <a:cubicBezTo>
                  <a:pt x="91418" y="0"/>
                  <a:pt x="118627" y="26120"/>
                  <a:pt x="118627" y="58769"/>
                </a:cubicBezTo>
                <a:close/>
                <a:moveTo>
                  <a:pt x="118627" y="58769"/>
                </a:moveTo>
                <a:cubicBezTo>
                  <a:pt x="118627" y="58769"/>
                  <a:pt x="118627" y="58769"/>
                  <a:pt x="118627" y="58769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>
            <p:custDataLst>
              <p:tags r:id="rId19"/>
            </p:custDataLst>
          </p:nvPr>
        </p:nvSpPr>
        <p:spPr>
          <a:xfrm>
            <a:off x="9588500" y="3175000"/>
            <a:ext cx="118627" cy="118627"/>
          </a:xfrm>
          <a:custGeom>
            <a:avLst/>
            <a:gdLst/>
            <a:ahLst/>
            <a:cxnLst/>
            <a:rect l="l" t="t" r="r" b="b"/>
            <a:pathLst>
              <a:path w="118627" h="118627">
                <a:moveTo>
                  <a:pt x="118627" y="58769"/>
                </a:moveTo>
                <a:cubicBezTo>
                  <a:pt x="118627" y="91418"/>
                  <a:pt x="91418" y="118627"/>
                  <a:pt x="58769" y="118627"/>
                </a:cubicBezTo>
                <a:cubicBezTo>
                  <a:pt x="26120" y="118627"/>
                  <a:pt x="0" y="91418"/>
                  <a:pt x="0" y="58769"/>
                </a:cubicBezTo>
                <a:cubicBezTo>
                  <a:pt x="0" y="26120"/>
                  <a:pt x="26120" y="0"/>
                  <a:pt x="58769" y="0"/>
                </a:cubicBezTo>
                <a:cubicBezTo>
                  <a:pt x="91418" y="0"/>
                  <a:pt x="118627" y="26120"/>
                  <a:pt x="118627" y="58769"/>
                </a:cubicBezTo>
                <a:close/>
                <a:moveTo>
                  <a:pt x="118627" y="58769"/>
                </a:moveTo>
                <a:cubicBezTo>
                  <a:pt x="118627" y="58769"/>
                  <a:pt x="118627" y="58769"/>
                  <a:pt x="118627" y="58769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>
            <p:custDataLst>
              <p:tags r:id="rId20"/>
            </p:custDataLst>
          </p:nvPr>
        </p:nvSpPr>
        <p:spPr>
          <a:xfrm>
            <a:off x="9347200" y="2857500"/>
            <a:ext cx="403074" cy="198987"/>
          </a:xfrm>
          <a:custGeom>
            <a:avLst/>
            <a:gdLst/>
            <a:ahLst/>
            <a:cxnLst/>
            <a:rect l="l" t="t" r="r" b="b"/>
            <a:pathLst>
              <a:path w="403074" h="198987">
                <a:moveTo>
                  <a:pt x="297404" y="119173"/>
                </a:moveTo>
                <a:cubicBezTo>
                  <a:pt x="220057" y="119173"/>
                  <a:pt x="154694" y="68880"/>
                  <a:pt x="130726" y="0"/>
                </a:cubicBezTo>
                <a:cubicBezTo>
                  <a:pt x="0" y="0"/>
                  <a:pt x="0" y="0"/>
                  <a:pt x="0" y="0"/>
                </a:cubicBezTo>
                <a:cubicBezTo>
                  <a:pt x="79525" y="198987"/>
                  <a:pt x="79525" y="198987"/>
                  <a:pt x="79525" y="198987"/>
                </a:cubicBezTo>
                <a:cubicBezTo>
                  <a:pt x="357320" y="198987"/>
                  <a:pt x="357320" y="198987"/>
                  <a:pt x="357320" y="198987"/>
                </a:cubicBezTo>
                <a:cubicBezTo>
                  <a:pt x="403074" y="84187"/>
                  <a:pt x="403074" y="84187"/>
                  <a:pt x="403074" y="84187"/>
                </a:cubicBezTo>
                <a:cubicBezTo>
                  <a:pt x="373661" y="106054"/>
                  <a:pt x="336621" y="119173"/>
                  <a:pt x="297404" y="119173"/>
                </a:cubicBezTo>
                <a:close/>
                <a:moveTo>
                  <a:pt x="297404" y="119173"/>
                </a:moveTo>
                <a:cubicBezTo>
                  <a:pt x="297404" y="119173"/>
                  <a:pt x="297404" y="119173"/>
                  <a:pt x="297404" y="119173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>
            <p:custDataLst>
              <p:tags r:id="rId21"/>
            </p:custDataLst>
          </p:nvPr>
        </p:nvSpPr>
        <p:spPr>
          <a:xfrm>
            <a:off x="9499600" y="2654300"/>
            <a:ext cx="278070" cy="278072"/>
          </a:xfrm>
          <a:custGeom>
            <a:avLst/>
            <a:gdLst/>
            <a:ahLst/>
            <a:cxnLst/>
            <a:rect l="l" t="t" r="r" b="b"/>
            <a:pathLst>
              <a:path w="278070" h="278072">
                <a:moveTo>
                  <a:pt x="138490" y="0"/>
                </a:moveTo>
                <a:cubicBezTo>
                  <a:pt x="62156" y="0"/>
                  <a:pt x="0" y="62401"/>
                  <a:pt x="0" y="139036"/>
                </a:cubicBezTo>
                <a:cubicBezTo>
                  <a:pt x="0" y="215669"/>
                  <a:pt x="62156" y="278072"/>
                  <a:pt x="138490" y="278072"/>
                </a:cubicBezTo>
                <a:cubicBezTo>
                  <a:pt x="215913" y="278072"/>
                  <a:pt x="278070" y="215669"/>
                  <a:pt x="278070" y="139036"/>
                </a:cubicBezTo>
                <a:cubicBezTo>
                  <a:pt x="278070" y="62401"/>
                  <a:pt x="215913" y="0"/>
                  <a:pt x="138490" y="0"/>
                </a:cubicBezTo>
                <a:close/>
                <a:moveTo>
                  <a:pt x="117771" y="209100"/>
                </a:moveTo>
                <a:cubicBezTo>
                  <a:pt x="47981" y="139036"/>
                  <a:pt x="47981" y="139036"/>
                  <a:pt x="47981" y="139036"/>
                </a:cubicBezTo>
                <a:cubicBezTo>
                  <a:pt x="75242" y="110571"/>
                  <a:pt x="75242" y="110571"/>
                  <a:pt x="75242" y="110571"/>
                </a:cubicBezTo>
                <a:cubicBezTo>
                  <a:pt x="117771" y="153267"/>
                  <a:pt x="117771" y="153267"/>
                  <a:pt x="117771" y="153267"/>
                </a:cubicBezTo>
                <a:cubicBezTo>
                  <a:pt x="201737" y="68970"/>
                  <a:pt x="201737" y="68970"/>
                  <a:pt x="201737" y="68970"/>
                </a:cubicBezTo>
                <a:cubicBezTo>
                  <a:pt x="230090" y="97434"/>
                  <a:pt x="230090" y="97434"/>
                  <a:pt x="230090" y="97434"/>
                </a:cubicBezTo>
                <a:lnTo>
                  <a:pt x="117771" y="209100"/>
                </a:lnTo>
                <a:close/>
                <a:moveTo>
                  <a:pt x="117771" y="209100"/>
                </a:moveTo>
                <a:cubicBezTo>
                  <a:pt x="117771" y="209100"/>
                  <a:pt x="117771" y="209100"/>
                  <a:pt x="117771" y="20910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>
            <p:custDataLst>
              <p:tags r:id="rId22"/>
            </p:custDataLst>
          </p:nvPr>
        </p:nvSpPr>
        <p:spPr>
          <a:xfrm>
            <a:off x="1104900" y="4610100"/>
            <a:ext cx="2311400" cy="138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覆盖活动创建、审核、报名、签到、统计的完整生命周期，实现业务闭环管理。</a:t>
            </a:r>
            <a:endParaRPr lang="en-US" sz="1100"/>
          </a:p>
        </p:txBody>
      </p:sp>
      <p:sp>
        <p:nvSpPr>
          <p:cNvPr id="30" name="AutoShape 30"/>
          <p:cNvSpPr/>
          <p:nvPr>
            <p:custDataLst>
              <p:tags r:id="rId23"/>
            </p:custDataLst>
          </p:nvPr>
        </p:nvSpPr>
        <p:spPr>
          <a:xfrm>
            <a:off x="1104900" y="4064000"/>
            <a:ext cx="2311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5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全流程在线管理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24"/>
            </p:custDataLst>
          </p:nvPr>
        </p:nvSpPr>
        <p:spPr>
          <a:xfrm>
            <a:off x="3670300" y="4610100"/>
            <a:ext cx="2311400" cy="138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基于动态二维码和多重验证机制，在确保信息安全的同时，实现现场快速高效签到。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25"/>
            </p:custDataLst>
          </p:nvPr>
        </p:nvSpPr>
        <p:spPr>
          <a:xfrm>
            <a:off x="3670300" y="4064000"/>
            <a:ext cx="2311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5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便捷扫码签到</a:t>
            </a: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26"/>
            </p:custDataLst>
          </p:nvPr>
        </p:nvSpPr>
        <p:spPr>
          <a:xfrm>
            <a:off x="6235700" y="4610100"/>
            <a:ext cx="2311400" cy="138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引入RBAC权限模型，将用户、角色与权限解耦，实现精细化的系统访问控制与流程管理。</a:t>
            </a:r>
            <a:endParaRPr lang="en-US" sz="1100"/>
          </a:p>
        </p:txBody>
      </p:sp>
      <p:sp>
        <p:nvSpPr>
          <p:cNvPr id="34" name="AutoShape 34"/>
          <p:cNvSpPr/>
          <p:nvPr>
            <p:custDataLst>
              <p:tags r:id="rId27"/>
            </p:custDataLst>
          </p:nvPr>
        </p:nvSpPr>
        <p:spPr>
          <a:xfrm>
            <a:off x="6235700" y="4064000"/>
            <a:ext cx="2311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5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三级权限体系</a:t>
            </a:r>
            <a:endParaRPr lang="en-US" sz="1100"/>
          </a:p>
        </p:txBody>
      </p:sp>
      <p:sp>
        <p:nvSpPr>
          <p:cNvPr id="35" name="AutoShape 35"/>
          <p:cNvSpPr/>
          <p:nvPr>
            <p:custDataLst>
              <p:tags r:id="rId28"/>
            </p:custDataLst>
          </p:nvPr>
        </p:nvSpPr>
        <p:spPr>
          <a:xfrm>
            <a:off x="8788400" y="4610100"/>
            <a:ext cx="2311400" cy="138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采用UniApp跨端框架开发，一套代码可同时编译为iOS、Android及小程序应用，扩展性强。</a:t>
            </a:r>
            <a:endParaRPr lang="en-US" sz="1100"/>
          </a:p>
        </p:txBody>
      </p:sp>
      <p:sp>
        <p:nvSpPr>
          <p:cNvPr id="36" name="AutoShape 36"/>
          <p:cNvSpPr/>
          <p:nvPr>
            <p:custDataLst>
              <p:tags r:id="rId29"/>
            </p:custDataLst>
          </p:nvPr>
        </p:nvSpPr>
        <p:spPr>
          <a:xfrm>
            <a:off x="8788400" y="4064000"/>
            <a:ext cx="2311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5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多端部署支持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0E4A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429000"/>
          </a:xfrm>
          <a:prstGeom prst="roundRect">
            <a:avLst>
              <a:gd name="adj" fmla="val 0"/>
            </a:avLst>
          </a:prstGeom>
          <a:solidFill>
            <a:srgbClr val="BDD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7800" y="190500"/>
            <a:ext cx="11849100" cy="6477000"/>
          </a:xfrm>
          <a:prstGeom prst="roundRect">
            <a:avLst>
              <a:gd name="adj" fmla="val 43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97890" y="1892300"/>
            <a:ext cx="11823700" cy="153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7200" b="1" i="0" u="none" strike="noStrike">
                <a:solidFill>
                  <a:srgbClr val="325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请各位老师批评指正！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060700" y="3429000"/>
            <a:ext cx="60706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THESIS DEFENSE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4699000"/>
            <a:ext cx="3403600" cy="381000"/>
          </a:xfrm>
          <a:prstGeom prst="roundRect">
            <a:avLst>
              <a:gd name="adj" fmla="val 33333"/>
            </a:avLst>
          </a:prstGeom>
          <a:solidFill>
            <a:srgbClr val="335C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2026届毕业论文答辩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327400" y="825500"/>
            <a:ext cx="55372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XX理工大学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13300" y="1460500"/>
            <a:ext cx="2565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GRADUATION DEFENSE</a:t>
            </a:r>
            <a:endParaRPr lang="en-US" sz="1100"/>
          </a:p>
        </p:txBody>
      </p:sp>
      <p:sp>
        <p:nvSpPr>
          <p:cNvPr id="13" name="AutoShape 10"/>
          <p:cNvSpPr/>
          <p:nvPr/>
        </p:nvSpPr>
        <p:spPr>
          <a:xfrm>
            <a:off x="6464300" y="54102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指导老师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：覃静洁</a:t>
            </a:r>
            <a:endParaRPr lang="zh-CN" altLang="en-US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8"/>
          <p:cNvSpPr/>
          <p:nvPr/>
        </p:nvSpPr>
        <p:spPr>
          <a:xfrm>
            <a:off x="2969260" y="54102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：林嘉宇</a:t>
            </a:r>
            <a:endParaRPr lang="en-US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2.0"/>
</p:tagLst>
</file>

<file path=ppt/tags/tag2.xml><?xml version="1.0" encoding="utf-8"?>
<p:tagLst xmlns:p="http://schemas.openxmlformats.org/presentationml/2006/main">
  <p:tag name="PA" val="v3.2.0"/>
</p:tagLst>
</file>

<file path=ppt/tags/tag3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4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5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6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7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8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9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0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1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2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3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4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5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6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7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8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19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20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21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22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23.xml><?xml version="1.0" encoding="utf-8"?>
<p:tagLst xmlns:p="http://schemas.openxmlformats.org/presentationml/2006/main">
  <p:tag name="KSO_WM_DIAGRAM_VIRTUALLY_FRAME" val="{&quot;height&quot;:254,&quot;left&quot;:59,&quot;top&quot;:176,&quot;width&quot;:862}"/>
</p:tagLst>
</file>

<file path=ppt/tags/tag24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25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26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27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28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29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0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1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2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3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4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5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6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7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8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39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0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1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2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3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4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5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6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7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8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49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50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51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ags/tag52.xml><?xml version="1.0" encoding="utf-8"?>
<p:tagLst xmlns:p="http://schemas.openxmlformats.org/presentationml/2006/main">
  <p:tag name="KSO_WM_DIAGRAM_VIRTUALLY_FRAME" val="{&quot;height&quot;:361,&quot;left&quot;:87,&quot;top&quot;:111,&quot;width&quot;:787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</Words>
  <Application>WPS 演示</Application>
  <PresentationFormat/>
  <Paragraphs>118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Noto Sans SC</vt:lpstr>
      <vt:lpstr>思源黑体</vt:lpstr>
      <vt:lpstr>黑体</vt:lpstr>
      <vt:lpstr>等线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林嘉宇</cp:lastModifiedBy>
  <cp:revision>9</cp:revision>
  <dcterms:created xsi:type="dcterms:W3CDTF">2026-05-06T03:32:00Z</dcterms:created>
  <dcterms:modified xsi:type="dcterms:W3CDTF">2026-05-06T08:11:51Z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14790852469B45E9BDCB10A012A6EB30_12</vt:lpwstr>
  </property>
  <property fmtid="{D5CDD505-2E9C-101B-9397-08002B2CF9AE}" pid="3" name="KSOProductBuildVer">
    <vt:lpwstr>2052-12.1.0.22529</vt:lpwstr>
  </property>
</Properties>
</file>